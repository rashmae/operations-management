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[PROLOGUE NOTES - 25s - Speaker: Group 7 Forecasters]
Good day, Engr. Lyndrian Shalom Baclayon and esteemed evaluators. We are Group 7 from Section D10, BSIE 3-E. Our presentation tackles Applied Study 1: the Port of Los Angeles Monthly Export Forecasting Challenge. Our team unites three specialized operational perspectives: Elaiza Jane Aligato, our Lead Analyst and Time-Series Specialist, decoding signals and seasonality; Rash Mae Crystelle Ansay, our Port Operations and Logistics Planner, aligning forecast volumes to dock capacity, berth allocations, and container yard staging; and Mylene Joy Villagracia, our Validation and Machine Learning Engineer, rigorously stress-testing model error across blind holdout horizons. Together, we are Group 7 — turning 36 months of real maritime export data into high-confidence terminal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NOTES - 40s - Speaker: Aligato, Elaiza Jane]
At the Port of Los Angeles, America's leading maritime gateway, every terminal decision depends on one critical question: how many container TEUs will cross the docks next month? We analyzed 36 consecutive months of verified operational export volume from January 2022 to December 2024. In February 2023, volume unexpectedly plummeted to 236,264 TEUs — the sharpest drop in the entire series. When we fit a linear regression across time, the correlation coefficient is r = 0.06 — essentially zero trend. Our operations cannot plan on a straight line; we must navigate cyclicality and shock.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NOTES - 35s - Speaker: Aligato, Elaiza Jane]
To support berth allocation and labor gang requisitions, we evaluated four conventional Operations Management methods across the 30 development months. First, a 3-Period Simple Moving Average. Second, a 3-Period Weighted Moving Average with weights 0.50, 0.30, and 0.20. Third, Exponential Smoothing tested across alphas 0.20, 0.50, and 0.80 — producing a smooth adaptive trajectory. Finally, Linear Trend Projection. The four approaches interpret the same irregular data in distinct ways: while the actual series oscillates wildly, the trend line remains rigidly straight.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NOTES - 30s - Speaker: Ansay, Rash Mae Crystelle C.]
Before our group evaluated the six validation months, we officially locked our conventional OM baseline. We chose Exponential Smoothing with alpha = 0.50. Across the development period, ETS alpha 0.50 delivered the lowest error across MAE (30,596 TEUs), RMSE, MAPE, and SMAPE. It smoothly absorbs temporary volatility while reacting swiftly to legitimate operational shifts. Please note: this was our locked conventional baseline — not yet the final validation winner.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NOTES - 40s - Speaker: Ansay, Rash Mae Crystelle C.]
We now pit our conventional baseline against advanced competitors. First, an ARIMA model with order (1, 1, 0) — differencing once to stabilize non-stationarity, with a single autoregressive parameter. Next, machine learning: Lagged Linear Regression capturing prior volume shifts, and Random Forest, an ensemble of decision trees. Machine learning promises superior non-linear fitting, but on 30 months of noisy port volume, complex models risk overfitting random shocks. The question is: which one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NOTES - 55s - Speaker: Villagracia, Mylene Joy]
Here is the ultimate test: periods 31 through 36, held out as blind operational validation. Look at the actual export line: volume surged to 445,000 TEUs. Ranking models strictly by Mean Absolute Error, the verdict is definitive: ARIMA (1,1,0) achieved an extraordinary MAE of 20,919 TEUs — outperforming every other model. In fact, ARIMA won across all six evaluated metrics: lowest MSE at 5.97 times 10 to the 8th, lowest RMSE at 24,426 TEUs, lowest MAPE at 4.71%, and lowest SMAPE at 4.75%. Random Forest degraded to 37,138 MAE and 8.31% MAPE — proving that on small macroeconomic datasets, parsimonious statistical structure decisively defeats black-box machine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NOTES - 45s - Speaker: Villagracia, Mylene Joy]
How does this translate into operational management? The ARIMA forecast directly drives container staging, longshore labor gang scheduling, and berth allocation. Because validation showed consistent under-forecasting during surges, port management must treat the ARIMA forecast as a capacity floor and add a modest operational safety buffer to avoid demurrage penalties of $50,000 per day. As we move from model to human to decision, Industry 5.0 principles must govern: revalidate quarterly, account for labor contract and tariff shocks, and never automate final commitments without human sign-off. Our final recommendation: USE ARIMA (1,1,0). REVALIDATE QUARTERLY.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45720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PROLOGUE: THE FORECASTERS · SECTION D10</a:t>
            </a:r>
            <a:endParaRPr lang="en-US" sz="1100" dirty="0"/>
          </a:p>
        </p:txBody>
      </p:sp>
      <p:sp>
        <p:nvSpPr>
          <p:cNvPr id="3" name="Text 1"/>
          <p:cNvSpPr/>
          <p:nvPr/>
        </p:nvSpPr>
        <p:spPr>
          <a:xfrm>
            <a:off x="731520" y="777240"/>
            <a:ext cx="9144000" cy="731520"/>
          </a:xfrm>
          <a:prstGeom prst="rect">
            <a:avLst/>
          </a:prstGeom>
          <a:noFill/>
          <a:ln/>
        </p:spPr>
        <p:txBody>
          <a:bodyPr wrap="square" rtlCol="0" anchor="ctr"/>
          <a:lstStyle/>
          <a:p>
            <a:pPr indent="0" marL="0">
              <a:buNone/>
            </a:pPr>
            <a:r>
              <a:rPr lang="en-US" sz="3400" dirty="0">
                <a:solidFill>
                  <a:srgbClr val="FFFFFF"/>
                </a:solidFill>
                <a:latin typeface="Helvetica" pitchFamily="34" charset="0"/>
                <a:ea typeface="Helvetica" pitchFamily="34" charset="-122"/>
                <a:cs typeface="Helvetica" pitchFamily="34" charset="-120"/>
              </a:rPr>
              <a:t>Meet Group 7: Turning Port Data into Operations</a:t>
            </a:r>
            <a:endParaRPr lang="en-US" sz="3400" dirty="0"/>
          </a:p>
        </p:txBody>
      </p:sp>
      <p:sp>
        <p:nvSpPr>
          <p:cNvPr id="4" name="Text 2"/>
          <p:cNvSpPr/>
          <p:nvPr/>
        </p:nvSpPr>
        <p:spPr>
          <a:xfrm>
            <a:off x="731520" y="1508760"/>
            <a:ext cx="9144000" cy="274320"/>
          </a:xfrm>
          <a:prstGeom prst="rect">
            <a:avLst/>
          </a:prstGeom>
          <a:noFill/>
          <a:ln/>
        </p:spPr>
        <p:txBody>
          <a:bodyPr wrap="square" rtlCol="0" anchor="ctr"/>
          <a:lstStyle/>
          <a:p>
            <a:pPr indent="0" marL="0">
              <a:buNone/>
            </a:pPr>
            <a:r>
              <a:rPr lang="en-US" sz="1300" dirty="0">
                <a:solidFill>
                  <a:srgbClr val="94A3B8"/>
                </a:solidFill>
                <a:latin typeface="Helvetica" pitchFamily="34" charset="0"/>
                <a:ea typeface="Helvetica" pitchFamily="34" charset="-122"/>
                <a:cs typeface="Helvetica" pitchFamily="34" charset="-120"/>
              </a:rPr>
              <a:t>Applied Study 1 · Port of Los Angeles Monthly Total Exports (TEUs) · BSIE 3-E</a:t>
            </a:r>
            <a:endParaRPr lang="en-US" sz="1300" dirty="0"/>
          </a:p>
        </p:txBody>
      </p:sp>
      <p:sp>
        <p:nvSpPr>
          <p:cNvPr id="5" name="Shape 3"/>
          <p:cNvSpPr/>
          <p:nvPr/>
        </p:nvSpPr>
        <p:spPr>
          <a:xfrm>
            <a:off x="731520" y="1920240"/>
            <a:ext cx="2926080" cy="3749040"/>
          </a:xfrm>
          <a:prstGeom prst="roundRect">
            <a:avLst>
              <a:gd name="adj" fmla="val 4688"/>
            </a:avLst>
          </a:prstGeom>
          <a:solidFill>
            <a:srgbClr val="0B2545"/>
          </a:solidFill>
          <a:ln w="15240">
            <a:solidFill>
              <a:srgbClr val="1B6CA8"/>
            </a:solidFill>
            <a:prstDash val="solid"/>
          </a:ln>
        </p:spPr>
      </p:sp>
      <p:sp>
        <p:nvSpPr>
          <p:cNvPr id="6" name="Text 4"/>
          <p:cNvSpPr/>
          <p:nvPr/>
        </p:nvSpPr>
        <p:spPr>
          <a:xfrm>
            <a:off x="914400" y="2103120"/>
            <a:ext cx="2560320" cy="228600"/>
          </a:xfrm>
          <a:prstGeom prst="rect">
            <a:avLst/>
          </a:prstGeom>
          <a:noFill/>
          <a:ln/>
        </p:spPr>
        <p:txBody>
          <a:bodyPr wrap="square" rtlCol="0" anchor="ctr"/>
          <a:lstStyle/>
          <a:p>
            <a:pPr indent="0" marL="0">
              <a:buNone/>
            </a:pPr>
            <a:r>
              <a:rPr lang="en-US" sz="900" b="1" spc="100" kern="0" dirty="0">
                <a:solidFill>
                  <a:srgbClr val="38BDF8"/>
                </a:solidFill>
                <a:latin typeface="Helvetica" pitchFamily="34" charset="0"/>
                <a:ea typeface="Helvetica" pitchFamily="34" charset="-122"/>
                <a:cs typeface="Helvetica" pitchFamily="34" charset="-120"/>
              </a:rPr>
              <a:t>SPECIALIST 1 OF 3</a:t>
            </a:r>
            <a:endParaRPr lang="en-US" sz="900" dirty="0"/>
          </a:p>
        </p:txBody>
      </p:sp>
      <p:sp>
        <p:nvSpPr>
          <p:cNvPr id="7" name="Text 5"/>
          <p:cNvSpPr/>
          <p:nvPr/>
        </p:nvSpPr>
        <p:spPr>
          <a:xfrm>
            <a:off x="914400" y="2423160"/>
            <a:ext cx="2560320" cy="548640"/>
          </a:xfrm>
          <a:prstGeom prst="rect">
            <a:avLst/>
          </a:prstGeom>
          <a:noFill/>
          <a:ln/>
        </p:spPr>
        <p:txBody>
          <a:bodyPr wrap="square"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Aligato, Elaiza Jane</a:t>
            </a:r>
            <a:endParaRPr lang="en-US" sz="1700" dirty="0"/>
          </a:p>
        </p:txBody>
      </p:sp>
      <p:sp>
        <p:nvSpPr>
          <p:cNvPr id="8" name="Text 6"/>
          <p:cNvSpPr/>
          <p:nvPr/>
        </p:nvSpPr>
        <p:spPr>
          <a:xfrm>
            <a:off x="914400" y="3017520"/>
            <a:ext cx="2560320" cy="411480"/>
          </a:xfrm>
          <a:prstGeom prst="rect">
            <a:avLst/>
          </a:prstGeom>
          <a:noFill/>
          <a:ln/>
        </p:spPr>
        <p:txBody>
          <a:bodyPr wrap="square" rtlCol="0" anchor="ctr"/>
          <a:lstStyle/>
          <a:p>
            <a:pPr indent="0" marL="0">
              <a:buNone/>
            </a:pPr>
            <a:r>
              <a:rPr lang="en-US" sz="1100" b="1" dirty="0">
                <a:solidFill>
                  <a:srgbClr val="38BDF8"/>
                </a:solidFill>
                <a:latin typeface="Helvetica" pitchFamily="34" charset="0"/>
                <a:ea typeface="Helvetica" pitchFamily="34" charset="-122"/>
                <a:cs typeface="Helvetica" pitchFamily="34" charset="-120"/>
              </a:rPr>
              <a:t>Lead Analyst &amp; Time-Series Specialist</a:t>
            </a:r>
            <a:endParaRPr lang="en-US" sz="1100" dirty="0"/>
          </a:p>
        </p:txBody>
      </p:sp>
      <p:sp>
        <p:nvSpPr>
          <p:cNvPr id="9" name="Text 7"/>
          <p:cNvSpPr/>
          <p:nvPr/>
        </p:nvSpPr>
        <p:spPr>
          <a:xfrm>
            <a:off x="914400" y="3520440"/>
            <a:ext cx="2560320" cy="457200"/>
          </a:xfrm>
          <a:prstGeom prst="rect">
            <a:avLst/>
          </a:prstGeom>
          <a:noFill/>
          <a:ln/>
        </p:spPr>
        <p:txBody>
          <a:bodyPr wrap="square" rtlCol="0" anchor="ctr"/>
          <a:lstStyle/>
          <a:p>
            <a:pPr indent="0" marL="0">
              <a:buNone/>
            </a:pPr>
            <a:r>
              <a:rPr lang="en-US" sz="1100" i="1" dirty="0">
                <a:solidFill>
                  <a:srgbClr val="CBD5E1"/>
                </a:solidFill>
                <a:latin typeface="Helvetica" pitchFamily="34" charset="0"/>
                <a:ea typeface="Helvetica" pitchFamily="34" charset="-122"/>
                <a:cs typeface="Helvetica" pitchFamily="34" charset="-120"/>
              </a:rPr>
              <a:t>“Sees the Signal &amp; Seasonality”</a:t>
            </a:r>
            <a:endParaRPr lang="en-US" sz="1100" dirty="0"/>
          </a:p>
        </p:txBody>
      </p:sp>
      <p:sp>
        <p:nvSpPr>
          <p:cNvPr id="10" name="Text 8"/>
          <p:cNvSpPr/>
          <p:nvPr/>
        </p:nvSpPr>
        <p:spPr>
          <a:xfrm>
            <a:off x="914400" y="4114800"/>
            <a:ext cx="2560320" cy="228600"/>
          </a:xfrm>
          <a:prstGeom prst="rect">
            <a:avLst/>
          </a:prstGeom>
          <a:noFill/>
          <a:ln/>
        </p:spPr>
        <p:txBody>
          <a:bodyPr wrap="square" rtlCol="0" anchor="ctr"/>
          <a:lstStyle/>
          <a:p>
            <a:pPr indent="0" marL="0">
              <a:buNone/>
            </a:pPr>
            <a:r>
              <a:rPr lang="en-US" sz="900" b="1" dirty="0">
                <a:solidFill>
                  <a:srgbClr val="94A3B8"/>
                </a:solidFill>
                <a:latin typeface="Helvetica" pitchFamily="34" charset="0"/>
                <a:ea typeface="Helvetica" pitchFamily="34" charset="-122"/>
                <a:cs typeface="Helvetica" pitchFamily="34" charset="-120"/>
              </a:rPr>
              <a:t>CORE SKILL BADGES</a:t>
            </a:r>
            <a:endParaRPr lang="en-US" sz="900" dirty="0"/>
          </a:p>
        </p:txBody>
      </p:sp>
      <p:sp>
        <p:nvSpPr>
          <p:cNvPr id="11" name="Text 9"/>
          <p:cNvSpPr/>
          <p:nvPr/>
        </p:nvSpPr>
        <p:spPr>
          <a:xfrm>
            <a:off x="914400" y="4389120"/>
            <a:ext cx="2560320" cy="1005840"/>
          </a:xfrm>
          <a:prstGeom prst="rect">
            <a:avLst/>
          </a:prstGeom>
          <a:noFill/>
          <a:ln/>
        </p:spPr>
        <p:txBody>
          <a:bodyPr wrap="square" rtlCol="0" anchor="ctr"/>
          <a:lstStyle/>
          <a:p>
            <a:pPr indent="0" marL="0">
              <a:lnSpc>
                <a:spcPct val="120000"/>
              </a:lnSpc>
              <a:buNone/>
            </a:pPr>
            <a:r>
              <a:rPr lang="en-US" sz="1050" dirty="0">
                <a:solidFill>
                  <a:srgbClr val="FFFFFF"/>
                </a:solidFill>
                <a:latin typeface="Helvetica" pitchFamily="34" charset="0"/>
                <a:ea typeface="Helvetica" pitchFamily="34" charset="-122"/>
                <a:cs typeface="Helvetica" pitchFamily="34" charset="-120"/>
              </a:rPr>
              <a:t>ARIMA (1,1,0) · ETS α=0.50 · Trend Decomposition</a:t>
            </a:r>
            <a:endParaRPr lang="en-US" sz="1050" dirty="0"/>
          </a:p>
        </p:txBody>
      </p:sp>
      <p:sp>
        <p:nvSpPr>
          <p:cNvPr id="12" name="Shape 10"/>
          <p:cNvSpPr/>
          <p:nvPr/>
        </p:nvSpPr>
        <p:spPr>
          <a:xfrm>
            <a:off x="3840480" y="1920240"/>
            <a:ext cx="2926080" cy="3749040"/>
          </a:xfrm>
          <a:prstGeom prst="roundRect">
            <a:avLst>
              <a:gd name="adj" fmla="val 4688"/>
            </a:avLst>
          </a:prstGeom>
          <a:solidFill>
            <a:srgbClr val="0B2545"/>
          </a:solidFill>
          <a:ln w="25400">
            <a:solidFill>
              <a:srgbClr val="F2A541"/>
            </a:solidFill>
            <a:prstDash val="solid"/>
          </a:ln>
        </p:spPr>
      </p:sp>
      <p:sp>
        <p:nvSpPr>
          <p:cNvPr id="13" name="Text 11"/>
          <p:cNvSpPr/>
          <p:nvPr/>
        </p:nvSpPr>
        <p:spPr>
          <a:xfrm>
            <a:off x="4023360" y="2103120"/>
            <a:ext cx="2560320" cy="228600"/>
          </a:xfrm>
          <a:prstGeom prst="rect">
            <a:avLst/>
          </a:prstGeom>
          <a:noFill/>
          <a:ln/>
        </p:spPr>
        <p:txBody>
          <a:bodyPr wrap="square" rtlCol="0" anchor="ctr"/>
          <a:lstStyle/>
          <a:p>
            <a:pPr indent="0" marL="0">
              <a:buNone/>
            </a:pPr>
            <a:r>
              <a:rPr lang="en-US" sz="900" b="1" spc="100" kern="0" dirty="0">
                <a:solidFill>
                  <a:srgbClr val="F2A541"/>
                </a:solidFill>
                <a:latin typeface="Helvetica" pitchFamily="34" charset="0"/>
                <a:ea typeface="Helvetica" pitchFamily="34" charset="-122"/>
                <a:cs typeface="Helvetica" pitchFamily="34" charset="-120"/>
              </a:rPr>
              <a:t>GROUP LEADER · SPECIALIST 2</a:t>
            </a:r>
            <a:endParaRPr lang="en-US" sz="900" dirty="0"/>
          </a:p>
        </p:txBody>
      </p:sp>
      <p:sp>
        <p:nvSpPr>
          <p:cNvPr id="14" name="Text 12"/>
          <p:cNvSpPr/>
          <p:nvPr/>
        </p:nvSpPr>
        <p:spPr>
          <a:xfrm>
            <a:off x="4023360" y="2423160"/>
            <a:ext cx="2560320" cy="548640"/>
          </a:xfrm>
          <a:prstGeom prst="rect">
            <a:avLst/>
          </a:prstGeom>
          <a:noFill/>
          <a:ln/>
        </p:spPr>
        <p:txBody>
          <a:bodyPr wrap="square"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Ansay, Rash Mae Crystelle C.</a:t>
            </a:r>
            <a:endParaRPr lang="en-US" sz="1700" dirty="0"/>
          </a:p>
        </p:txBody>
      </p:sp>
      <p:sp>
        <p:nvSpPr>
          <p:cNvPr id="15" name="Text 13"/>
          <p:cNvSpPr/>
          <p:nvPr/>
        </p:nvSpPr>
        <p:spPr>
          <a:xfrm>
            <a:off x="4023360" y="3017520"/>
            <a:ext cx="2560320" cy="411480"/>
          </a:xfrm>
          <a:prstGeom prst="rect">
            <a:avLst/>
          </a:prstGeom>
          <a:noFill/>
          <a:ln/>
        </p:spPr>
        <p:txBody>
          <a:bodyPr wrap="square" rtlCol="0" anchor="ctr"/>
          <a:lstStyle/>
          <a:p>
            <a:pPr indent="0" marL="0">
              <a:buNone/>
            </a:pPr>
            <a:r>
              <a:rPr lang="en-US" sz="1100" b="1" dirty="0">
                <a:solidFill>
                  <a:srgbClr val="F2A541"/>
                </a:solidFill>
                <a:latin typeface="Helvetica" pitchFamily="34" charset="0"/>
                <a:ea typeface="Helvetica" pitchFamily="34" charset="-122"/>
                <a:cs typeface="Helvetica" pitchFamily="34" charset="-120"/>
              </a:rPr>
              <a:t>Port Operations &amp; Logistics Planner</a:t>
            </a:r>
            <a:endParaRPr lang="en-US" sz="1100" dirty="0"/>
          </a:p>
        </p:txBody>
      </p:sp>
      <p:sp>
        <p:nvSpPr>
          <p:cNvPr id="16" name="Text 14"/>
          <p:cNvSpPr/>
          <p:nvPr/>
        </p:nvSpPr>
        <p:spPr>
          <a:xfrm>
            <a:off x="4023360" y="3520440"/>
            <a:ext cx="2560320" cy="457200"/>
          </a:xfrm>
          <a:prstGeom prst="rect">
            <a:avLst/>
          </a:prstGeom>
          <a:noFill/>
          <a:ln/>
        </p:spPr>
        <p:txBody>
          <a:bodyPr wrap="square" rtlCol="0" anchor="ctr"/>
          <a:lstStyle/>
          <a:p>
            <a:pPr indent="0" marL="0">
              <a:buNone/>
            </a:pPr>
            <a:r>
              <a:rPr lang="en-US" sz="1100" i="1" dirty="0">
                <a:solidFill>
                  <a:srgbClr val="CBD5E1"/>
                </a:solidFill>
                <a:latin typeface="Helvetica" pitchFamily="34" charset="0"/>
                <a:ea typeface="Helvetica" pitchFamily="34" charset="-122"/>
                <a:cs typeface="Helvetica" pitchFamily="34" charset="-120"/>
              </a:rPr>
              <a:t>“Sees the Operational Capacity”</a:t>
            </a:r>
            <a:endParaRPr lang="en-US" sz="1100" dirty="0"/>
          </a:p>
        </p:txBody>
      </p:sp>
      <p:sp>
        <p:nvSpPr>
          <p:cNvPr id="17" name="Text 15"/>
          <p:cNvSpPr/>
          <p:nvPr/>
        </p:nvSpPr>
        <p:spPr>
          <a:xfrm>
            <a:off x="4023360" y="4114800"/>
            <a:ext cx="2560320" cy="228600"/>
          </a:xfrm>
          <a:prstGeom prst="rect">
            <a:avLst/>
          </a:prstGeom>
          <a:noFill/>
          <a:ln/>
        </p:spPr>
        <p:txBody>
          <a:bodyPr wrap="square" rtlCol="0" anchor="ctr"/>
          <a:lstStyle/>
          <a:p>
            <a:pPr indent="0" marL="0">
              <a:buNone/>
            </a:pPr>
            <a:r>
              <a:rPr lang="en-US" sz="900" b="1" dirty="0">
                <a:solidFill>
                  <a:srgbClr val="94A3B8"/>
                </a:solidFill>
                <a:latin typeface="Helvetica" pitchFamily="34" charset="0"/>
                <a:ea typeface="Helvetica" pitchFamily="34" charset="-122"/>
                <a:cs typeface="Helvetica" pitchFamily="34" charset="-120"/>
              </a:rPr>
              <a:t>CORE SKILL BADGES</a:t>
            </a:r>
            <a:endParaRPr lang="en-US" sz="900" dirty="0"/>
          </a:p>
        </p:txBody>
      </p:sp>
      <p:sp>
        <p:nvSpPr>
          <p:cNvPr id="18" name="Text 16"/>
          <p:cNvSpPr/>
          <p:nvPr/>
        </p:nvSpPr>
        <p:spPr>
          <a:xfrm>
            <a:off x="4023360" y="4389120"/>
            <a:ext cx="2560320" cy="1005840"/>
          </a:xfrm>
          <a:prstGeom prst="rect">
            <a:avLst/>
          </a:prstGeom>
          <a:noFill/>
          <a:ln/>
        </p:spPr>
        <p:txBody>
          <a:bodyPr wrap="square" rtlCol="0" anchor="ctr"/>
          <a:lstStyle/>
          <a:p>
            <a:pPr indent="0" marL="0">
              <a:lnSpc>
                <a:spcPct val="120000"/>
              </a:lnSpc>
              <a:buNone/>
            </a:pPr>
            <a:r>
              <a:rPr lang="en-US" sz="1050" dirty="0">
                <a:solidFill>
                  <a:srgbClr val="FFFFFF"/>
                </a:solidFill>
                <a:latin typeface="Helvetica" pitchFamily="34" charset="0"/>
                <a:ea typeface="Helvetica" pitchFamily="34" charset="-122"/>
                <a:cs typeface="Helvetica" pitchFamily="34" charset="-120"/>
              </a:rPr>
              <a:t>Berth Scheduling · Yard Staging · TEU Throughput</a:t>
            </a:r>
            <a:endParaRPr lang="en-US" sz="1050" dirty="0"/>
          </a:p>
        </p:txBody>
      </p:sp>
      <p:sp>
        <p:nvSpPr>
          <p:cNvPr id="19" name="Shape 17"/>
          <p:cNvSpPr/>
          <p:nvPr/>
        </p:nvSpPr>
        <p:spPr>
          <a:xfrm>
            <a:off x="6949440" y="1920240"/>
            <a:ext cx="2926080" cy="3749040"/>
          </a:xfrm>
          <a:prstGeom prst="roundRect">
            <a:avLst>
              <a:gd name="adj" fmla="val 4688"/>
            </a:avLst>
          </a:prstGeom>
          <a:solidFill>
            <a:srgbClr val="0B2545"/>
          </a:solidFill>
          <a:ln w="15240">
            <a:solidFill>
              <a:srgbClr val="1B6CA8"/>
            </a:solidFill>
            <a:prstDash val="solid"/>
          </a:ln>
        </p:spPr>
      </p:sp>
      <p:sp>
        <p:nvSpPr>
          <p:cNvPr id="20" name="Text 18"/>
          <p:cNvSpPr/>
          <p:nvPr/>
        </p:nvSpPr>
        <p:spPr>
          <a:xfrm>
            <a:off x="7132320" y="2103120"/>
            <a:ext cx="2560320" cy="228600"/>
          </a:xfrm>
          <a:prstGeom prst="rect">
            <a:avLst/>
          </a:prstGeom>
          <a:noFill/>
          <a:ln/>
        </p:spPr>
        <p:txBody>
          <a:bodyPr wrap="square" rtlCol="0" anchor="ctr"/>
          <a:lstStyle/>
          <a:p>
            <a:pPr indent="0" marL="0">
              <a:buNone/>
            </a:pPr>
            <a:r>
              <a:rPr lang="en-US" sz="900" b="1" spc="100" kern="0" dirty="0">
                <a:solidFill>
                  <a:srgbClr val="10B981"/>
                </a:solidFill>
                <a:latin typeface="Helvetica" pitchFamily="34" charset="0"/>
                <a:ea typeface="Helvetica" pitchFamily="34" charset="-122"/>
                <a:cs typeface="Helvetica" pitchFamily="34" charset="-120"/>
              </a:rPr>
              <a:t>SPECIALIST 3 OF 3</a:t>
            </a:r>
            <a:endParaRPr lang="en-US" sz="900" dirty="0"/>
          </a:p>
        </p:txBody>
      </p:sp>
      <p:sp>
        <p:nvSpPr>
          <p:cNvPr id="21" name="Text 19"/>
          <p:cNvSpPr/>
          <p:nvPr/>
        </p:nvSpPr>
        <p:spPr>
          <a:xfrm>
            <a:off x="7132320" y="2423160"/>
            <a:ext cx="2560320" cy="548640"/>
          </a:xfrm>
          <a:prstGeom prst="rect">
            <a:avLst/>
          </a:prstGeom>
          <a:noFill/>
          <a:ln/>
        </p:spPr>
        <p:txBody>
          <a:bodyPr wrap="square" rtlCol="0" anchor="ctr"/>
          <a:lstStyle/>
          <a:p>
            <a:pPr indent="0" marL="0">
              <a:buNone/>
            </a:pPr>
            <a:r>
              <a:rPr lang="en-US" sz="1700" b="1" dirty="0">
                <a:solidFill>
                  <a:srgbClr val="FFFFFF"/>
                </a:solidFill>
                <a:latin typeface="Helvetica" pitchFamily="34" charset="0"/>
                <a:ea typeface="Helvetica" pitchFamily="34" charset="-122"/>
                <a:cs typeface="Helvetica" pitchFamily="34" charset="-120"/>
              </a:rPr>
              <a:t>Villagracia, Mylene Joy</a:t>
            </a:r>
            <a:endParaRPr lang="en-US" sz="1700" dirty="0"/>
          </a:p>
        </p:txBody>
      </p:sp>
      <p:sp>
        <p:nvSpPr>
          <p:cNvPr id="22" name="Text 20"/>
          <p:cNvSpPr/>
          <p:nvPr/>
        </p:nvSpPr>
        <p:spPr>
          <a:xfrm>
            <a:off x="7132320" y="3017520"/>
            <a:ext cx="2560320" cy="411480"/>
          </a:xfrm>
          <a:prstGeom prst="rect">
            <a:avLst/>
          </a:prstGeom>
          <a:noFill/>
          <a:ln/>
        </p:spPr>
        <p:txBody>
          <a:bodyPr wrap="square" rtlCol="0" anchor="ctr"/>
          <a:lstStyle/>
          <a:p>
            <a:pPr indent="0" marL="0">
              <a:buNone/>
            </a:pPr>
            <a:r>
              <a:rPr lang="en-US" sz="1100" b="1" dirty="0">
                <a:solidFill>
                  <a:srgbClr val="10B981"/>
                </a:solidFill>
                <a:latin typeface="Helvetica" pitchFamily="34" charset="0"/>
                <a:ea typeface="Helvetica" pitchFamily="34" charset="-122"/>
                <a:cs typeface="Helvetica" pitchFamily="34" charset="-120"/>
              </a:rPr>
              <a:t>Validation &amp; ML Engineer</a:t>
            </a:r>
            <a:endParaRPr lang="en-US" sz="1100" dirty="0"/>
          </a:p>
        </p:txBody>
      </p:sp>
      <p:sp>
        <p:nvSpPr>
          <p:cNvPr id="23" name="Text 21"/>
          <p:cNvSpPr/>
          <p:nvPr/>
        </p:nvSpPr>
        <p:spPr>
          <a:xfrm>
            <a:off x="7132320" y="3520440"/>
            <a:ext cx="2560320" cy="457200"/>
          </a:xfrm>
          <a:prstGeom prst="rect">
            <a:avLst/>
          </a:prstGeom>
          <a:noFill/>
          <a:ln/>
        </p:spPr>
        <p:txBody>
          <a:bodyPr wrap="square" rtlCol="0" anchor="ctr"/>
          <a:lstStyle/>
          <a:p>
            <a:pPr indent="0" marL="0">
              <a:buNone/>
            </a:pPr>
            <a:r>
              <a:rPr lang="en-US" sz="1100" i="1" dirty="0">
                <a:solidFill>
                  <a:srgbClr val="CBD5E1"/>
                </a:solidFill>
                <a:latin typeface="Helvetica" pitchFamily="34" charset="0"/>
                <a:ea typeface="Helvetica" pitchFamily="34" charset="-122"/>
                <a:cs typeface="Helvetica" pitchFamily="34" charset="-120"/>
              </a:rPr>
              <a:t>“Sees the Predictive Accuracy”</a:t>
            </a:r>
            <a:endParaRPr lang="en-US" sz="1100" dirty="0"/>
          </a:p>
        </p:txBody>
      </p:sp>
      <p:sp>
        <p:nvSpPr>
          <p:cNvPr id="24" name="Text 22"/>
          <p:cNvSpPr/>
          <p:nvPr/>
        </p:nvSpPr>
        <p:spPr>
          <a:xfrm>
            <a:off x="7132320" y="4114800"/>
            <a:ext cx="2560320" cy="228600"/>
          </a:xfrm>
          <a:prstGeom prst="rect">
            <a:avLst/>
          </a:prstGeom>
          <a:noFill/>
          <a:ln/>
        </p:spPr>
        <p:txBody>
          <a:bodyPr wrap="square" rtlCol="0" anchor="ctr"/>
          <a:lstStyle/>
          <a:p>
            <a:pPr indent="0" marL="0">
              <a:buNone/>
            </a:pPr>
            <a:r>
              <a:rPr lang="en-US" sz="900" b="1" dirty="0">
                <a:solidFill>
                  <a:srgbClr val="94A3B8"/>
                </a:solidFill>
                <a:latin typeface="Helvetica" pitchFamily="34" charset="0"/>
                <a:ea typeface="Helvetica" pitchFamily="34" charset="-122"/>
                <a:cs typeface="Helvetica" pitchFamily="34" charset="-120"/>
              </a:rPr>
              <a:t>CORE SKILL BADGES</a:t>
            </a:r>
            <a:endParaRPr lang="en-US" sz="900" dirty="0"/>
          </a:p>
        </p:txBody>
      </p:sp>
      <p:sp>
        <p:nvSpPr>
          <p:cNvPr id="25" name="Text 23"/>
          <p:cNvSpPr/>
          <p:nvPr/>
        </p:nvSpPr>
        <p:spPr>
          <a:xfrm>
            <a:off x="7132320" y="4389120"/>
            <a:ext cx="2560320" cy="1005840"/>
          </a:xfrm>
          <a:prstGeom prst="rect">
            <a:avLst/>
          </a:prstGeom>
          <a:noFill/>
          <a:ln/>
        </p:spPr>
        <p:txBody>
          <a:bodyPr wrap="square" rtlCol="0" anchor="ctr"/>
          <a:lstStyle/>
          <a:p>
            <a:pPr indent="0" marL="0">
              <a:lnSpc>
                <a:spcPct val="120000"/>
              </a:lnSpc>
              <a:buNone/>
            </a:pPr>
            <a:r>
              <a:rPr lang="en-US" sz="1050" dirty="0">
                <a:solidFill>
                  <a:srgbClr val="FFFFFF"/>
                </a:solidFill>
                <a:latin typeface="Helvetica" pitchFamily="34" charset="0"/>
                <a:ea typeface="Helvetica" pitchFamily="34" charset="-122"/>
                <a:cs typeface="Helvetica" pitchFamily="34" charset="-120"/>
              </a:rPr>
              <a:t>MAE / RMSE · Random Forest · Lagged Regression</a:t>
            </a:r>
            <a:endParaRPr lang="en-US" sz="1050" dirty="0"/>
          </a:p>
        </p:txBody>
      </p:sp>
      <p:sp>
        <p:nvSpPr>
          <p:cNvPr id="26" name="Text 24"/>
          <p:cNvSpPr/>
          <p:nvPr/>
        </p:nvSpPr>
        <p:spPr>
          <a:xfrm>
            <a:off x="731520" y="5943600"/>
            <a:ext cx="9144000" cy="274320"/>
          </a:xfrm>
          <a:prstGeom prst="rect">
            <a:avLst/>
          </a:prstGeom>
          <a:noFill/>
          <a:ln/>
        </p:spPr>
        <p:txBody>
          <a:bodyPr wrap="square" rtlCol="0" anchor="ctr"/>
          <a:lstStyle/>
          <a:p>
            <a:pPr indent="0" marL="0">
              <a:buNone/>
            </a:pPr>
            <a:r>
              <a:rPr lang="en-US" sz="1000" dirty="0">
                <a:solidFill>
                  <a:srgbClr val="94A3B8"/>
                </a:solidFill>
                <a:latin typeface="Helvetica" pitchFamily="34" charset="0"/>
                <a:ea typeface="Helvetica" pitchFamily="34" charset="-122"/>
                <a:cs typeface="Helvetica" pitchFamily="34" charset="-120"/>
              </a:rPr>
              <a:t>IE-PC 3112: Operations Management 1 · Cebu Technological University – Main Campus · Engr. Lyndrian Shalom R. Baclayon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54864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ACT I: MARITIME TRADE &amp; THE FEBRUARY 2023 SHOCK</a:t>
            </a:r>
            <a:endParaRPr lang="en-US" sz="1100" dirty="0"/>
          </a:p>
        </p:txBody>
      </p:sp>
      <p:sp>
        <p:nvSpPr>
          <p:cNvPr id="3" name="Text 1"/>
          <p:cNvSpPr/>
          <p:nvPr/>
        </p:nvSpPr>
        <p:spPr>
          <a:xfrm>
            <a:off x="731520" y="868680"/>
            <a:ext cx="9144000" cy="822960"/>
          </a:xfrm>
          <a:prstGeom prst="rect">
            <a:avLst/>
          </a:prstGeom>
          <a:noFill/>
          <a:ln/>
        </p:spPr>
        <p:txBody>
          <a:bodyPr wrap="square" rtlCol="0" anchor="ctr"/>
          <a:lstStyle/>
          <a:p>
            <a:pPr indent="0" marL="0">
              <a:buNone/>
            </a:pPr>
            <a:r>
              <a:rPr lang="en-US" sz="4000" dirty="0">
                <a:solidFill>
                  <a:srgbClr val="FFFFFF"/>
                </a:solidFill>
                <a:latin typeface="Helvetica" pitchFamily="34" charset="0"/>
                <a:ea typeface="Helvetica" pitchFamily="34" charset="-122"/>
                <a:cs typeface="Helvetica" pitchFamily="34" charset="-120"/>
              </a:rPr>
              <a:t>36 Months. One Question.</a:t>
            </a:r>
            <a:endParaRPr lang="en-US" sz="4000" dirty="0"/>
          </a:p>
        </p:txBody>
      </p:sp>
      <p:sp>
        <p:nvSpPr>
          <p:cNvPr id="4" name="Text 2"/>
          <p:cNvSpPr/>
          <p:nvPr/>
        </p:nvSpPr>
        <p:spPr>
          <a:xfrm>
            <a:off x="731520" y="1691640"/>
            <a:ext cx="9144000" cy="365760"/>
          </a:xfrm>
          <a:prstGeom prst="rect">
            <a:avLst/>
          </a:prstGeom>
          <a:noFill/>
          <a:ln/>
        </p:spPr>
        <p:txBody>
          <a:bodyPr wrap="square" rtlCol="0" anchor="ctr"/>
          <a:lstStyle/>
          <a:p>
            <a:pPr indent="0" marL="0">
              <a:buNone/>
            </a:pPr>
            <a:r>
              <a:rPr lang="en-US" sz="1400" dirty="0">
                <a:solidFill>
                  <a:srgbClr val="94A3B8"/>
                </a:solidFill>
                <a:latin typeface="Helvetica" pitchFamily="34" charset="0"/>
                <a:ea typeface="Helvetica" pitchFamily="34" charset="-122"/>
                <a:cs typeface="Helvetica" pitchFamily="34" charset="-120"/>
              </a:rPr>
              <a:t>Port of Los Angeles Monthly Export Volume (TEUs) · Jan 2022 to Dec 2024</a:t>
            </a:r>
            <a:endParaRPr lang="en-US" sz="1400" dirty="0"/>
          </a:p>
        </p:txBody>
      </p:sp>
      <p:sp>
        <p:nvSpPr>
          <p:cNvPr id="5" name="Shape 3"/>
          <p:cNvSpPr/>
          <p:nvPr/>
        </p:nvSpPr>
        <p:spPr>
          <a:xfrm>
            <a:off x="731520" y="2286000"/>
            <a:ext cx="4389120" cy="2560320"/>
          </a:xfrm>
          <a:prstGeom prst="roundRect">
            <a:avLst>
              <a:gd name="adj" fmla="val 5357"/>
            </a:avLst>
          </a:prstGeom>
          <a:solidFill>
            <a:srgbClr val="0B2545"/>
          </a:solidFill>
          <a:ln w="19050">
            <a:solidFill>
              <a:srgbClr val="1B6CA8"/>
            </a:solidFill>
            <a:prstDash val="solid"/>
          </a:ln>
        </p:spPr>
      </p:sp>
      <p:sp>
        <p:nvSpPr>
          <p:cNvPr id="6" name="Text 4"/>
          <p:cNvSpPr/>
          <p:nvPr/>
        </p:nvSpPr>
        <p:spPr>
          <a:xfrm>
            <a:off x="1005840" y="2468880"/>
            <a:ext cx="3840480" cy="274320"/>
          </a:xfrm>
          <a:prstGeom prst="rect">
            <a:avLst/>
          </a:prstGeom>
          <a:noFill/>
          <a:ln/>
        </p:spPr>
        <p:txBody>
          <a:bodyPr wrap="square" rtlCol="0" anchor="ctr"/>
          <a:lstStyle/>
          <a:p>
            <a:pPr indent="0" marL="0">
              <a:buNone/>
            </a:pPr>
            <a:r>
              <a:rPr lang="en-US" sz="1000" b="1" dirty="0">
                <a:solidFill>
                  <a:srgbClr val="F2A541"/>
                </a:solidFill>
                <a:latin typeface="Helvetica" pitchFamily="34" charset="0"/>
                <a:ea typeface="Helvetica" pitchFamily="34" charset="-122"/>
                <a:cs typeface="Helvetica" pitchFamily="34" charset="-120"/>
              </a:rPr>
              <a:t>STRUCTURAL SHOCK EVENT</a:t>
            </a:r>
            <a:endParaRPr lang="en-US" sz="1000" dirty="0"/>
          </a:p>
        </p:txBody>
      </p:sp>
      <p:sp>
        <p:nvSpPr>
          <p:cNvPr id="7" name="Text 5"/>
          <p:cNvSpPr/>
          <p:nvPr/>
        </p:nvSpPr>
        <p:spPr>
          <a:xfrm>
            <a:off x="1005840" y="2743200"/>
            <a:ext cx="3840480" cy="640080"/>
          </a:xfrm>
          <a:prstGeom prst="rect">
            <a:avLst/>
          </a:prstGeom>
          <a:noFill/>
          <a:ln/>
        </p:spPr>
        <p:txBody>
          <a:bodyPr wrap="square" rtlCol="0" anchor="ctr"/>
          <a:lstStyle/>
          <a:p>
            <a:pPr indent="0" marL="0">
              <a:buNone/>
            </a:pPr>
            <a:r>
              <a:rPr lang="en-US" sz="3200" b="1" dirty="0">
                <a:solidFill>
                  <a:srgbClr val="FFFFFF"/>
                </a:solidFill>
                <a:latin typeface="Helvetica" pitchFamily="34" charset="0"/>
                <a:ea typeface="Helvetica" pitchFamily="34" charset="-122"/>
                <a:cs typeface="Helvetica" pitchFamily="34" charset="-120"/>
              </a:rPr>
              <a:t>236,264 TEUs</a:t>
            </a:r>
            <a:endParaRPr lang="en-US" sz="3200" dirty="0"/>
          </a:p>
        </p:txBody>
      </p:sp>
      <p:sp>
        <p:nvSpPr>
          <p:cNvPr id="8" name="Text 6"/>
          <p:cNvSpPr/>
          <p:nvPr/>
        </p:nvSpPr>
        <p:spPr>
          <a:xfrm>
            <a:off x="1005840" y="3383280"/>
            <a:ext cx="3840480" cy="1188720"/>
          </a:xfrm>
          <a:prstGeom prst="rect">
            <a:avLst/>
          </a:prstGeom>
          <a:noFill/>
          <a:ln/>
        </p:spPr>
        <p:txBody>
          <a:bodyPr wrap="square" rtlCol="0" anchor="ctr"/>
          <a:lstStyle/>
          <a:p>
            <a:pPr indent="0" marL="0">
              <a:lnSpc>
                <a:spcPct val="120000"/>
              </a:lnSpc>
              <a:buNone/>
            </a:pPr>
            <a:r>
              <a:rPr lang="en-US" sz="1200" dirty="0">
                <a:solidFill>
                  <a:srgbClr val="CBD5E1"/>
                </a:solidFill>
                <a:latin typeface="Helvetica" pitchFamily="34" charset="0"/>
                <a:ea typeface="Helvetica" pitchFamily="34" charset="-122"/>
                <a:cs typeface="Helvetica" pitchFamily="34" charset="-120"/>
              </a:rPr>
              <a:t>February 2023 recorded an unprecedented -32.0% volume collapse — the lowest in the entire 36-month series. Standard static forecasting fails during such post-shock rebounds.</a:t>
            </a:r>
            <a:endParaRPr lang="en-US" sz="1200" dirty="0"/>
          </a:p>
        </p:txBody>
      </p:sp>
      <p:sp>
        <p:nvSpPr>
          <p:cNvPr id="9" name="Shape 7"/>
          <p:cNvSpPr/>
          <p:nvPr/>
        </p:nvSpPr>
        <p:spPr>
          <a:xfrm>
            <a:off x="5486400" y="2286000"/>
            <a:ext cx="4389120" cy="2560320"/>
          </a:xfrm>
          <a:prstGeom prst="roundRect">
            <a:avLst>
              <a:gd name="adj" fmla="val 5357"/>
            </a:avLst>
          </a:prstGeom>
          <a:solidFill>
            <a:srgbClr val="0B2545"/>
          </a:solidFill>
          <a:ln w="19050">
            <a:solidFill>
              <a:srgbClr val="1B6CA8"/>
            </a:solidFill>
            <a:prstDash val="solid"/>
          </a:ln>
        </p:spPr>
      </p:sp>
      <p:sp>
        <p:nvSpPr>
          <p:cNvPr id="10" name="Text 8"/>
          <p:cNvSpPr/>
          <p:nvPr/>
        </p:nvSpPr>
        <p:spPr>
          <a:xfrm>
            <a:off x="5760720" y="2468880"/>
            <a:ext cx="3840480" cy="274320"/>
          </a:xfrm>
          <a:prstGeom prst="rect">
            <a:avLst/>
          </a:prstGeom>
          <a:noFill/>
          <a:ln/>
        </p:spPr>
        <p:txBody>
          <a:bodyPr wrap="square" rtlCol="0" anchor="ctr"/>
          <a:lstStyle/>
          <a:p>
            <a:pPr indent="0" marL="0">
              <a:buNone/>
            </a:pPr>
            <a:r>
              <a:rPr lang="en-US" sz="1000" b="1" dirty="0">
                <a:solidFill>
                  <a:srgbClr val="38BDF8"/>
                </a:solidFill>
                <a:latin typeface="Helvetica" pitchFamily="34" charset="0"/>
                <a:ea typeface="Helvetica" pitchFamily="34" charset="-122"/>
                <a:cs typeface="Helvetica" pitchFamily="34" charset="-120"/>
              </a:rPr>
              <a:t>LINEAR REGRESSION CORRELATION</a:t>
            </a:r>
            <a:endParaRPr lang="en-US" sz="1000" dirty="0"/>
          </a:p>
        </p:txBody>
      </p:sp>
      <p:sp>
        <p:nvSpPr>
          <p:cNvPr id="11" name="Text 9"/>
          <p:cNvSpPr/>
          <p:nvPr/>
        </p:nvSpPr>
        <p:spPr>
          <a:xfrm>
            <a:off x="5760720" y="2743200"/>
            <a:ext cx="3840480" cy="640080"/>
          </a:xfrm>
          <a:prstGeom prst="rect">
            <a:avLst/>
          </a:prstGeom>
          <a:noFill/>
          <a:ln/>
        </p:spPr>
        <p:txBody>
          <a:bodyPr wrap="square" rtlCol="0" anchor="ctr"/>
          <a:lstStyle/>
          <a:p>
            <a:pPr indent="0" marL="0">
              <a:buNone/>
            </a:pPr>
            <a:r>
              <a:rPr lang="en-US" sz="3600" b="1" dirty="0">
                <a:solidFill>
                  <a:srgbClr val="F2A541"/>
                </a:solidFill>
                <a:latin typeface="Helvetica" pitchFamily="34" charset="0"/>
                <a:ea typeface="Helvetica" pitchFamily="34" charset="-122"/>
                <a:cs typeface="Helvetica" pitchFamily="34" charset="-120"/>
              </a:rPr>
              <a:t>r = 0.06</a:t>
            </a:r>
            <a:endParaRPr lang="en-US" sz="3600" dirty="0"/>
          </a:p>
        </p:txBody>
      </p:sp>
      <p:sp>
        <p:nvSpPr>
          <p:cNvPr id="12" name="Text 10"/>
          <p:cNvSpPr/>
          <p:nvPr/>
        </p:nvSpPr>
        <p:spPr>
          <a:xfrm>
            <a:off x="5760720" y="3383280"/>
            <a:ext cx="3840480" cy="1188720"/>
          </a:xfrm>
          <a:prstGeom prst="rect">
            <a:avLst/>
          </a:prstGeom>
          <a:noFill/>
          <a:ln/>
        </p:spPr>
        <p:txBody>
          <a:bodyPr wrap="square" rtlCol="0" anchor="ctr"/>
          <a:lstStyle/>
          <a:p>
            <a:pPr indent="0" marL="0">
              <a:lnSpc>
                <a:spcPct val="120000"/>
              </a:lnSpc>
              <a:buNone/>
            </a:pPr>
            <a:r>
              <a:rPr lang="en-US" sz="1200" dirty="0">
                <a:solidFill>
                  <a:srgbClr val="CBD5E1"/>
                </a:solidFill>
                <a:latin typeface="Helvetica" pitchFamily="34" charset="0"/>
                <a:ea typeface="Helvetica" pitchFamily="34" charset="-122"/>
                <a:cs typeface="Helvetica" pitchFamily="34" charset="-120"/>
              </a:rPr>
              <a:t>Correlation between volume and time is essentially zero. Projecting a straight line on this cyclical series is an operational hazard; models must handle cycles and volatility.</a:t>
            </a:r>
            <a:endParaRPr lang="en-US" sz="1200" dirty="0"/>
          </a:p>
        </p:txBody>
      </p:sp>
      <p:sp>
        <p:nvSpPr>
          <p:cNvPr id="13" name="Text 11"/>
          <p:cNvSpPr/>
          <p:nvPr/>
        </p:nvSpPr>
        <p:spPr>
          <a:xfrm>
            <a:off x="731520" y="5943600"/>
            <a:ext cx="9144000" cy="274320"/>
          </a:xfrm>
          <a:prstGeom prst="rect">
            <a:avLst/>
          </a:prstGeom>
          <a:noFill/>
          <a:ln/>
        </p:spPr>
        <p:txBody>
          <a:bodyPr wrap="square" rtlCol="0" anchor="ctr"/>
          <a:lstStyle/>
          <a:p>
            <a:pPr indent="0" marL="0">
              <a:buNone/>
            </a:pPr>
            <a:r>
              <a:rPr lang="en-US" sz="1000" dirty="0">
                <a:solidFill>
                  <a:srgbClr val="94A3B8"/>
                </a:solidFill>
                <a:latin typeface="Helvetica" pitchFamily="34" charset="0"/>
                <a:ea typeface="Helvetica" pitchFamily="34" charset="-122"/>
                <a:cs typeface="Helvetica" pitchFamily="34" charset="-120"/>
              </a:rPr>
              <a:t>IE-PC 3112: Operations Management 1 · Group 7 (BSIE 3-E) · Speaker: Aligato, Elaiza Jane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54864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ACT I: CONVENTIONAL FORECASTING RESULTS</a:t>
            </a:r>
            <a:endParaRPr lang="en-US" sz="1100" dirty="0"/>
          </a:p>
        </p:txBody>
      </p:sp>
      <p:sp>
        <p:nvSpPr>
          <p:cNvPr id="3" name="Text 1"/>
          <p:cNvSpPr/>
          <p:nvPr/>
        </p:nvSpPr>
        <p:spPr>
          <a:xfrm>
            <a:off x="731520" y="868680"/>
            <a:ext cx="9144000" cy="731520"/>
          </a:xfrm>
          <a:prstGeom prst="rect">
            <a:avLst/>
          </a:prstGeom>
          <a:noFill/>
          <a:ln/>
        </p:spPr>
        <p:txBody>
          <a:bodyPr wrap="square" rtlCol="0" anchor="ctr"/>
          <a:lstStyle/>
          <a:p>
            <a:pPr indent="0" marL="0">
              <a:buNone/>
            </a:pPr>
            <a:r>
              <a:rPr lang="en-US" sz="3600" dirty="0">
                <a:solidFill>
                  <a:srgbClr val="FFFFFF"/>
                </a:solidFill>
                <a:latin typeface="Helvetica" pitchFamily="34" charset="0"/>
                <a:ea typeface="Helvetica" pitchFamily="34" charset="-122"/>
                <a:cs typeface="Helvetica" pitchFamily="34" charset="-120"/>
              </a:rPr>
              <a:t>Four Conventional Contenders</a:t>
            </a:r>
            <a:endParaRPr lang="en-US" sz="3600" dirty="0"/>
          </a:p>
        </p:txBody>
      </p:sp>
      <p:sp>
        <p:nvSpPr>
          <p:cNvPr id="4" name="Text 2"/>
          <p:cNvSpPr/>
          <p:nvPr/>
        </p:nvSpPr>
        <p:spPr>
          <a:xfrm>
            <a:off x="731520" y="1600200"/>
            <a:ext cx="9144000" cy="274320"/>
          </a:xfrm>
          <a:prstGeom prst="rect">
            <a:avLst/>
          </a:prstGeom>
          <a:noFill/>
          <a:ln/>
        </p:spPr>
        <p:txBody>
          <a:bodyPr wrap="square" rtlCol="0" anchor="ctr"/>
          <a:lstStyle/>
          <a:p>
            <a:pPr indent="0" marL="0">
              <a:buNone/>
            </a:pPr>
            <a:r>
              <a:rPr lang="en-US" sz="1300" dirty="0">
                <a:solidFill>
                  <a:srgbClr val="94A3B8"/>
                </a:solidFill>
                <a:latin typeface="Helvetica" pitchFamily="34" charset="0"/>
                <a:ea typeface="Helvetica" pitchFamily="34" charset="-122"/>
                <a:cs typeface="Helvetica" pitchFamily="34" charset="-120"/>
              </a:rPr>
              <a:t>Tested on the 30 Development Months (Jan 2022 – Jun 2024)</a:t>
            </a:r>
            <a:endParaRPr lang="en-US" sz="1300" dirty="0"/>
          </a:p>
        </p:txBody>
      </p:sp>
      <p:sp>
        <p:nvSpPr>
          <p:cNvPr id="5" name="Shape 3"/>
          <p:cNvSpPr/>
          <p:nvPr/>
        </p:nvSpPr>
        <p:spPr>
          <a:xfrm>
            <a:off x="731520" y="2103120"/>
            <a:ext cx="2194560" cy="3474720"/>
          </a:xfrm>
          <a:prstGeom prst="roundRect">
            <a:avLst>
              <a:gd name="adj" fmla="val 6250"/>
            </a:avLst>
          </a:prstGeom>
          <a:solidFill>
            <a:srgbClr val="0B2545"/>
          </a:solidFill>
          <a:ln w="12700">
            <a:solidFill>
              <a:srgbClr val="1B6CA8"/>
            </a:solidFill>
            <a:prstDash val="solid"/>
          </a:ln>
        </p:spPr>
      </p:sp>
      <p:sp>
        <p:nvSpPr>
          <p:cNvPr id="6" name="Text 4"/>
          <p:cNvSpPr/>
          <p:nvPr/>
        </p:nvSpPr>
        <p:spPr>
          <a:xfrm>
            <a:off x="868680" y="2286000"/>
            <a:ext cx="1920240" cy="274320"/>
          </a:xfrm>
          <a:prstGeom prst="rect">
            <a:avLst/>
          </a:prstGeom>
          <a:noFill/>
          <a:ln/>
        </p:spPr>
        <p:txBody>
          <a:bodyPr wrap="square" rtlCol="0" anchor="ctr"/>
          <a:lstStyle/>
          <a:p>
            <a:pPr indent="0" marL="0">
              <a:buNone/>
            </a:pPr>
            <a:r>
              <a:rPr lang="en-US" sz="950" b="1" dirty="0">
                <a:solidFill>
                  <a:srgbClr val="38BDF8"/>
                </a:solidFill>
                <a:latin typeface="Helvetica" pitchFamily="34" charset="0"/>
                <a:ea typeface="Helvetica" pitchFamily="34" charset="-122"/>
                <a:cs typeface="Helvetica" pitchFamily="34" charset="-120"/>
              </a:rPr>
              <a:t>Simple Baseline</a:t>
            </a:r>
            <a:endParaRPr lang="en-US" sz="950" dirty="0"/>
          </a:p>
        </p:txBody>
      </p:sp>
      <p:sp>
        <p:nvSpPr>
          <p:cNvPr id="7" name="Text 5"/>
          <p:cNvSpPr/>
          <p:nvPr/>
        </p:nvSpPr>
        <p:spPr>
          <a:xfrm>
            <a:off x="868680" y="2606040"/>
            <a:ext cx="1920240" cy="548640"/>
          </a:xfrm>
          <a:prstGeom prst="rect">
            <a:avLst/>
          </a:prstGeom>
          <a:noFill/>
          <a:ln/>
        </p:spPr>
        <p:txBody>
          <a:bodyPr wrap="square" rtlCol="0" anchor="ctr"/>
          <a:lstStyle/>
          <a:p>
            <a:pPr indent="0" marL="0">
              <a:buNone/>
            </a:pPr>
            <a:r>
              <a:rPr lang="en-US" sz="1600" b="1" dirty="0">
                <a:solidFill>
                  <a:srgbClr val="FFFFFF"/>
                </a:solidFill>
                <a:latin typeface="Helvetica" pitchFamily="34" charset="0"/>
                <a:ea typeface="Helvetica" pitchFamily="34" charset="-122"/>
                <a:cs typeface="Helvetica" pitchFamily="34" charset="-120"/>
              </a:rPr>
              <a:t>3-Period SMA</a:t>
            </a:r>
            <a:endParaRPr lang="en-US" sz="1600" dirty="0"/>
          </a:p>
        </p:txBody>
      </p:sp>
      <p:sp>
        <p:nvSpPr>
          <p:cNvPr id="8" name="Text 6"/>
          <p:cNvSpPr/>
          <p:nvPr/>
        </p:nvSpPr>
        <p:spPr>
          <a:xfrm>
            <a:off x="868680" y="3200400"/>
            <a:ext cx="1920240" cy="365760"/>
          </a:xfrm>
          <a:prstGeom prst="rect">
            <a:avLst/>
          </a:prstGeom>
          <a:noFill/>
          <a:ln/>
        </p:spPr>
        <p:txBody>
          <a:bodyPr wrap="square" rtlCol="0" anchor="ctr"/>
          <a:lstStyle/>
          <a:p>
            <a:pPr indent="0" marL="0">
              <a:buNone/>
            </a:pPr>
            <a:r>
              <a:rPr lang="en-US" sz="1000" dirty="0">
                <a:solidFill>
                  <a:srgbClr val="CBD5E1"/>
                </a:solidFill>
                <a:latin typeface="Helvetica" pitchFamily="34" charset="0"/>
                <a:ea typeface="Helvetica" pitchFamily="34" charset="-122"/>
                <a:cs typeface="Helvetica" pitchFamily="34" charset="-120"/>
              </a:rPr>
              <a:t>Avg(t-1, t-2, t-3)</a:t>
            </a:r>
            <a:endParaRPr lang="en-US" sz="1000" dirty="0"/>
          </a:p>
        </p:txBody>
      </p:sp>
      <p:sp>
        <p:nvSpPr>
          <p:cNvPr id="9" name="Text 7"/>
          <p:cNvSpPr/>
          <p:nvPr/>
        </p:nvSpPr>
        <p:spPr>
          <a:xfrm>
            <a:off x="868680" y="374904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MAE</a:t>
            </a:r>
            <a:endParaRPr lang="en-US" sz="900" dirty="0"/>
          </a:p>
        </p:txBody>
      </p:sp>
      <p:sp>
        <p:nvSpPr>
          <p:cNvPr id="10" name="Text 8"/>
          <p:cNvSpPr/>
          <p:nvPr/>
        </p:nvSpPr>
        <p:spPr>
          <a:xfrm>
            <a:off x="868680" y="3977640"/>
            <a:ext cx="1920240" cy="457200"/>
          </a:xfrm>
          <a:prstGeom prst="rect">
            <a:avLst/>
          </a:prstGeom>
          <a:noFill/>
          <a:ln/>
        </p:spPr>
        <p:txBody>
          <a:bodyPr wrap="square" rtlCol="0" anchor="ctr"/>
          <a:lstStyle/>
          <a:p>
            <a:pPr indent="0" marL="0">
              <a:buNone/>
            </a:pPr>
            <a:r>
              <a:rPr lang="en-US" sz="2000" b="1" dirty="0">
                <a:solidFill>
                  <a:srgbClr val="38BDF8"/>
                </a:solidFill>
                <a:latin typeface="Helvetica" pitchFamily="34" charset="0"/>
                <a:ea typeface="Helvetica" pitchFamily="34" charset="-122"/>
                <a:cs typeface="Helvetica" pitchFamily="34" charset="-120"/>
              </a:rPr>
              <a:t>33,428</a:t>
            </a:r>
            <a:endParaRPr lang="en-US" sz="2000" dirty="0"/>
          </a:p>
        </p:txBody>
      </p:sp>
      <p:sp>
        <p:nvSpPr>
          <p:cNvPr id="11" name="Text 9"/>
          <p:cNvSpPr/>
          <p:nvPr/>
        </p:nvSpPr>
        <p:spPr>
          <a:xfrm>
            <a:off x="868680" y="457200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MAPE</a:t>
            </a:r>
            <a:endParaRPr lang="en-US" sz="900" dirty="0"/>
          </a:p>
        </p:txBody>
      </p:sp>
      <p:sp>
        <p:nvSpPr>
          <p:cNvPr id="12" name="Text 10"/>
          <p:cNvSpPr/>
          <p:nvPr/>
        </p:nvSpPr>
        <p:spPr>
          <a:xfrm>
            <a:off x="868680" y="4800600"/>
            <a:ext cx="1920240" cy="365760"/>
          </a:xfrm>
          <a:prstGeom prst="rect">
            <a:avLst/>
          </a:prstGeom>
          <a:noFill/>
          <a:ln/>
        </p:spPr>
        <p:txBody>
          <a:bodyPr wrap="square" rtlCol="0" anchor="ctr"/>
          <a:lstStyle/>
          <a:p>
            <a:pPr indent="0" marL="0">
              <a:buNone/>
            </a:pPr>
            <a:r>
              <a:rPr lang="en-US" sz="1600" b="1" dirty="0">
                <a:solidFill>
                  <a:srgbClr val="CBD5E1"/>
                </a:solidFill>
                <a:latin typeface="Helvetica" pitchFamily="34" charset="0"/>
                <a:ea typeface="Helvetica" pitchFamily="34" charset="-122"/>
                <a:cs typeface="Helvetica" pitchFamily="34" charset="-120"/>
              </a:rPr>
              <a:t>9.71%</a:t>
            </a:r>
            <a:endParaRPr lang="en-US" sz="1600" dirty="0"/>
          </a:p>
        </p:txBody>
      </p:sp>
      <p:sp>
        <p:nvSpPr>
          <p:cNvPr id="13" name="Shape 11"/>
          <p:cNvSpPr/>
          <p:nvPr/>
        </p:nvSpPr>
        <p:spPr>
          <a:xfrm>
            <a:off x="3063240" y="2103120"/>
            <a:ext cx="2194560" cy="3474720"/>
          </a:xfrm>
          <a:prstGeom prst="roundRect">
            <a:avLst>
              <a:gd name="adj" fmla="val 6250"/>
            </a:avLst>
          </a:prstGeom>
          <a:solidFill>
            <a:srgbClr val="0B2545"/>
          </a:solidFill>
          <a:ln w="12700">
            <a:solidFill>
              <a:srgbClr val="1B6CA8"/>
            </a:solidFill>
            <a:prstDash val="solid"/>
          </a:ln>
        </p:spPr>
      </p:sp>
      <p:sp>
        <p:nvSpPr>
          <p:cNvPr id="14" name="Text 12"/>
          <p:cNvSpPr/>
          <p:nvPr/>
        </p:nvSpPr>
        <p:spPr>
          <a:xfrm>
            <a:off x="3200400" y="2286000"/>
            <a:ext cx="1920240" cy="274320"/>
          </a:xfrm>
          <a:prstGeom prst="rect">
            <a:avLst/>
          </a:prstGeom>
          <a:noFill/>
          <a:ln/>
        </p:spPr>
        <p:txBody>
          <a:bodyPr wrap="square" rtlCol="0" anchor="ctr"/>
          <a:lstStyle/>
          <a:p>
            <a:pPr indent="0" marL="0">
              <a:buNone/>
            </a:pPr>
            <a:r>
              <a:rPr lang="en-US" sz="950" b="1" dirty="0">
                <a:solidFill>
                  <a:srgbClr val="38BDF8"/>
                </a:solidFill>
                <a:latin typeface="Helvetica" pitchFamily="34" charset="0"/>
                <a:ea typeface="Helvetica" pitchFamily="34" charset="-122"/>
                <a:cs typeface="Helvetica" pitchFamily="34" charset="-120"/>
              </a:rPr>
              <a:t>Weighted Buffer</a:t>
            </a:r>
            <a:endParaRPr lang="en-US" sz="950" dirty="0"/>
          </a:p>
        </p:txBody>
      </p:sp>
      <p:sp>
        <p:nvSpPr>
          <p:cNvPr id="15" name="Text 13"/>
          <p:cNvSpPr/>
          <p:nvPr/>
        </p:nvSpPr>
        <p:spPr>
          <a:xfrm>
            <a:off x="3200400" y="2606040"/>
            <a:ext cx="1920240" cy="548640"/>
          </a:xfrm>
          <a:prstGeom prst="rect">
            <a:avLst/>
          </a:prstGeom>
          <a:noFill/>
          <a:ln/>
        </p:spPr>
        <p:txBody>
          <a:bodyPr wrap="square" rtlCol="0" anchor="ctr"/>
          <a:lstStyle/>
          <a:p>
            <a:pPr indent="0" marL="0">
              <a:buNone/>
            </a:pPr>
            <a:r>
              <a:rPr lang="en-US" sz="1600" b="1" dirty="0">
                <a:solidFill>
                  <a:srgbClr val="FFFFFF"/>
                </a:solidFill>
                <a:latin typeface="Helvetica" pitchFamily="34" charset="0"/>
                <a:ea typeface="Helvetica" pitchFamily="34" charset="-122"/>
                <a:cs typeface="Helvetica" pitchFamily="34" charset="-120"/>
              </a:rPr>
              <a:t>3-Period WMA</a:t>
            </a:r>
            <a:endParaRPr lang="en-US" sz="1600" dirty="0"/>
          </a:p>
        </p:txBody>
      </p:sp>
      <p:sp>
        <p:nvSpPr>
          <p:cNvPr id="16" name="Text 14"/>
          <p:cNvSpPr/>
          <p:nvPr/>
        </p:nvSpPr>
        <p:spPr>
          <a:xfrm>
            <a:off x="3200400" y="3200400"/>
            <a:ext cx="1920240" cy="365760"/>
          </a:xfrm>
          <a:prstGeom prst="rect">
            <a:avLst/>
          </a:prstGeom>
          <a:noFill/>
          <a:ln/>
        </p:spPr>
        <p:txBody>
          <a:bodyPr wrap="square" rtlCol="0" anchor="ctr"/>
          <a:lstStyle/>
          <a:p>
            <a:pPr indent="0" marL="0">
              <a:buNone/>
            </a:pPr>
            <a:r>
              <a:rPr lang="en-US" sz="1000" dirty="0">
                <a:solidFill>
                  <a:srgbClr val="CBD5E1"/>
                </a:solidFill>
                <a:latin typeface="Helvetica" pitchFamily="34" charset="0"/>
                <a:ea typeface="Helvetica" pitchFamily="34" charset="-122"/>
                <a:cs typeface="Helvetica" pitchFamily="34" charset="-120"/>
              </a:rPr>
              <a:t>Weights: 0.50, 0.30, 0.20</a:t>
            </a:r>
            <a:endParaRPr lang="en-US" sz="1000" dirty="0"/>
          </a:p>
        </p:txBody>
      </p:sp>
      <p:sp>
        <p:nvSpPr>
          <p:cNvPr id="17" name="Text 15"/>
          <p:cNvSpPr/>
          <p:nvPr/>
        </p:nvSpPr>
        <p:spPr>
          <a:xfrm>
            <a:off x="3200400" y="374904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MAE</a:t>
            </a:r>
            <a:endParaRPr lang="en-US" sz="900" dirty="0"/>
          </a:p>
        </p:txBody>
      </p:sp>
      <p:sp>
        <p:nvSpPr>
          <p:cNvPr id="18" name="Text 16"/>
          <p:cNvSpPr/>
          <p:nvPr/>
        </p:nvSpPr>
        <p:spPr>
          <a:xfrm>
            <a:off x="3200400" y="3977640"/>
            <a:ext cx="1920240" cy="457200"/>
          </a:xfrm>
          <a:prstGeom prst="rect">
            <a:avLst/>
          </a:prstGeom>
          <a:noFill/>
          <a:ln/>
        </p:spPr>
        <p:txBody>
          <a:bodyPr wrap="square" rtlCol="0" anchor="ctr"/>
          <a:lstStyle/>
          <a:p>
            <a:pPr indent="0" marL="0">
              <a:buNone/>
            </a:pPr>
            <a:r>
              <a:rPr lang="en-US" sz="2000" b="1" dirty="0">
                <a:solidFill>
                  <a:srgbClr val="38BDF8"/>
                </a:solidFill>
                <a:latin typeface="Helvetica" pitchFamily="34" charset="0"/>
                <a:ea typeface="Helvetica" pitchFamily="34" charset="-122"/>
                <a:cs typeface="Helvetica" pitchFamily="34" charset="-120"/>
              </a:rPr>
              <a:t>32,142</a:t>
            </a:r>
            <a:endParaRPr lang="en-US" sz="2000" dirty="0"/>
          </a:p>
        </p:txBody>
      </p:sp>
      <p:sp>
        <p:nvSpPr>
          <p:cNvPr id="19" name="Text 17"/>
          <p:cNvSpPr/>
          <p:nvPr/>
        </p:nvSpPr>
        <p:spPr>
          <a:xfrm>
            <a:off x="3200400" y="457200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MAPE</a:t>
            </a:r>
            <a:endParaRPr lang="en-US" sz="900" dirty="0"/>
          </a:p>
        </p:txBody>
      </p:sp>
      <p:sp>
        <p:nvSpPr>
          <p:cNvPr id="20" name="Text 18"/>
          <p:cNvSpPr/>
          <p:nvPr/>
        </p:nvSpPr>
        <p:spPr>
          <a:xfrm>
            <a:off x="3200400" y="4800600"/>
            <a:ext cx="1920240" cy="365760"/>
          </a:xfrm>
          <a:prstGeom prst="rect">
            <a:avLst/>
          </a:prstGeom>
          <a:noFill/>
          <a:ln/>
        </p:spPr>
        <p:txBody>
          <a:bodyPr wrap="square" rtlCol="0" anchor="ctr"/>
          <a:lstStyle/>
          <a:p>
            <a:pPr indent="0" marL="0">
              <a:buNone/>
            </a:pPr>
            <a:r>
              <a:rPr lang="en-US" sz="1600" b="1" dirty="0">
                <a:solidFill>
                  <a:srgbClr val="CBD5E1"/>
                </a:solidFill>
                <a:latin typeface="Helvetica" pitchFamily="34" charset="0"/>
                <a:ea typeface="Helvetica" pitchFamily="34" charset="-122"/>
                <a:cs typeface="Helvetica" pitchFamily="34" charset="-120"/>
              </a:rPr>
              <a:t>9.50%</a:t>
            </a:r>
            <a:endParaRPr lang="en-US" sz="1600" dirty="0"/>
          </a:p>
        </p:txBody>
      </p:sp>
      <p:sp>
        <p:nvSpPr>
          <p:cNvPr id="21" name="Shape 19"/>
          <p:cNvSpPr/>
          <p:nvPr/>
        </p:nvSpPr>
        <p:spPr>
          <a:xfrm>
            <a:off x="5394960" y="2103120"/>
            <a:ext cx="2194560" cy="3474720"/>
          </a:xfrm>
          <a:prstGeom prst="roundRect">
            <a:avLst>
              <a:gd name="adj" fmla="val 6250"/>
            </a:avLst>
          </a:prstGeom>
          <a:solidFill>
            <a:srgbClr val="0B2545"/>
          </a:solidFill>
          <a:ln w="25400">
            <a:solidFill>
              <a:srgbClr val="F2A541"/>
            </a:solidFill>
            <a:prstDash val="solid"/>
          </a:ln>
        </p:spPr>
      </p:sp>
      <p:sp>
        <p:nvSpPr>
          <p:cNvPr id="22" name="Text 20"/>
          <p:cNvSpPr/>
          <p:nvPr/>
        </p:nvSpPr>
        <p:spPr>
          <a:xfrm>
            <a:off x="5532120" y="2286000"/>
            <a:ext cx="1920240" cy="274320"/>
          </a:xfrm>
          <a:prstGeom prst="rect">
            <a:avLst/>
          </a:prstGeom>
          <a:noFill/>
          <a:ln/>
        </p:spPr>
        <p:txBody>
          <a:bodyPr wrap="square" rtlCol="0" anchor="ctr"/>
          <a:lstStyle/>
          <a:p>
            <a:pPr indent="0" marL="0">
              <a:buNone/>
            </a:pPr>
            <a:r>
              <a:rPr lang="en-US" sz="950" b="1" dirty="0">
                <a:solidFill>
                  <a:srgbClr val="F2A541"/>
                </a:solidFill>
                <a:latin typeface="Helvetica" pitchFamily="34" charset="0"/>
                <a:ea typeface="Helvetica" pitchFamily="34" charset="-122"/>
                <a:cs typeface="Helvetica" pitchFamily="34" charset="-120"/>
              </a:rPr>
              <a:t>Lowest Dev Error ★</a:t>
            </a:r>
            <a:endParaRPr lang="en-US" sz="950" dirty="0"/>
          </a:p>
        </p:txBody>
      </p:sp>
      <p:sp>
        <p:nvSpPr>
          <p:cNvPr id="23" name="Text 21"/>
          <p:cNvSpPr/>
          <p:nvPr/>
        </p:nvSpPr>
        <p:spPr>
          <a:xfrm>
            <a:off x="5532120" y="2606040"/>
            <a:ext cx="1920240" cy="548640"/>
          </a:xfrm>
          <a:prstGeom prst="rect">
            <a:avLst/>
          </a:prstGeom>
          <a:noFill/>
          <a:ln/>
        </p:spPr>
        <p:txBody>
          <a:bodyPr wrap="square" rtlCol="0" anchor="ctr"/>
          <a:lstStyle/>
          <a:p>
            <a:pPr indent="0" marL="0">
              <a:buNone/>
            </a:pPr>
            <a:r>
              <a:rPr lang="en-US" sz="1600" b="1" dirty="0">
                <a:solidFill>
                  <a:srgbClr val="FFFFFF"/>
                </a:solidFill>
                <a:latin typeface="Helvetica" pitchFamily="34" charset="0"/>
                <a:ea typeface="Helvetica" pitchFamily="34" charset="-122"/>
                <a:cs typeface="Helvetica" pitchFamily="34" charset="-120"/>
              </a:rPr>
              <a:t>Exp. Smoothing</a:t>
            </a:r>
            <a:endParaRPr lang="en-US" sz="1600" dirty="0"/>
          </a:p>
        </p:txBody>
      </p:sp>
      <p:sp>
        <p:nvSpPr>
          <p:cNvPr id="24" name="Text 22"/>
          <p:cNvSpPr/>
          <p:nvPr/>
        </p:nvSpPr>
        <p:spPr>
          <a:xfrm>
            <a:off x="5532120" y="3200400"/>
            <a:ext cx="1920240" cy="365760"/>
          </a:xfrm>
          <a:prstGeom prst="rect">
            <a:avLst/>
          </a:prstGeom>
          <a:noFill/>
          <a:ln/>
        </p:spPr>
        <p:txBody>
          <a:bodyPr wrap="square" rtlCol="0" anchor="ctr"/>
          <a:lstStyle/>
          <a:p>
            <a:pPr indent="0" marL="0">
              <a:buNone/>
            </a:pPr>
            <a:r>
              <a:rPr lang="en-US" sz="1000" dirty="0">
                <a:solidFill>
                  <a:srgbClr val="CBD5E1"/>
                </a:solidFill>
                <a:latin typeface="Helvetica" pitchFamily="34" charset="0"/>
                <a:ea typeface="Helvetica" pitchFamily="34" charset="-122"/>
                <a:cs typeface="Helvetica" pitchFamily="34" charset="-120"/>
              </a:rPr>
              <a:t>Alpha = 0.50</a:t>
            </a:r>
            <a:endParaRPr lang="en-US" sz="1000" dirty="0"/>
          </a:p>
        </p:txBody>
      </p:sp>
      <p:sp>
        <p:nvSpPr>
          <p:cNvPr id="25" name="Text 23"/>
          <p:cNvSpPr/>
          <p:nvPr/>
        </p:nvSpPr>
        <p:spPr>
          <a:xfrm>
            <a:off x="5532120" y="374904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MAE</a:t>
            </a:r>
            <a:endParaRPr lang="en-US" sz="900" dirty="0"/>
          </a:p>
        </p:txBody>
      </p:sp>
      <p:sp>
        <p:nvSpPr>
          <p:cNvPr id="26" name="Text 24"/>
          <p:cNvSpPr/>
          <p:nvPr/>
        </p:nvSpPr>
        <p:spPr>
          <a:xfrm>
            <a:off x="5532120" y="3977640"/>
            <a:ext cx="1920240" cy="457200"/>
          </a:xfrm>
          <a:prstGeom prst="rect">
            <a:avLst/>
          </a:prstGeom>
          <a:noFill/>
          <a:ln/>
        </p:spPr>
        <p:txBody>
          <a:bodyPr wrap="square" rtlCol="0" anchor="ctr"/>
          <a:lstStyle/>
          <a:p>
            <a:pPr indent="0" marL="0">
              <a:buNone/>
            </a:pPr>
            <a:r>
              <a:rPr lang="en-US" sz="2000" b="1" dirty="0">
                <a:solidFill>
                  <a:srgbClr val="F2A541"/>
                </a:solidFill>
                <a:latin typeface="Helvetica" pitchFamily="34" charset="0"/>
                <a:ea typeface="Helvetica" pitchFamily="34" charset="-122"/>
                <a:cs typeface="Helvetica" pitchFamily="34" charset="-120"/>
              </a:rPr>
              <a:t>30,596</a:t>
            </a:r>
            <a:endParaRPr lang="en-US" sz="2000" dirty="0"/>
          </a:p>
        </p:txBody>
      </p:sp>
      <p:sp>
        <p:nvSpPr>
          <p:cNvPr id="27" name="Text 25"/>
          <p:cNvSpPr/>
          <p:nvPr/>
        </p:nvSpPr>
        <p:spPr>
          <a:xfrm>
            <a:off x="5532120" y="457200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MAPE</a:t>
            </a:r>
            <a:endParaRPr lang="en-US" sz="900" dirty="0"/>
          </a:p>
        </p:txBody>
      </p:sp>
      <p:sp>
        <p:nvSpPr>
          <p:cNvPr id="28" name="Text 26"/>
          <p:cNvSpPr/>
          <p:nvPr/>
        </p:nvSpPr>
        <p:spPr>
          <a:xfrm>
            <a:off x="5532120" y="4800600"/>
            <a:ext cx="1920240" cy="365760"/>
          </a:xfrm>
          <a:prstGeom prst="rect">
            <a:avLst/>
          </a:prstGeom>
          <a:noFill/>
          <a:ln/>
        </p:spPr>
        <p:txBody>
          <a:bodyPr wrap="square" rtlCol="0" anchor="ctr"/>
          <a:lstStyle/>
          <a:p>
            <a:pPr indent="0" marL="0">
              <a:buNone/>
            </a:pPr>
            <a:r>
              <a:rPr lang="en-US" sz="1600" b="1" dirty="0">
                <a:solidFill>
                  <a:srgbClr val="CBD5E1"/>
                </a:solidFill>
                <a:latin typeface="Helvetica" pitchFamily="34" charset="0"/>
                <a:ea typeface="Helvetica" pitchFamily="34" charset="-122"/>
                <a:cs typeface="Helvetica" pitchFamily="34" charset="-120"/>
              </a:rPr>
              <a:t>8.80%</a:t>
            </a:r>
            <a:endParaRPr lang="en-US" sz="1600" dirty="0"/>
          </a:p>
        </p:txBody>
      </p:sp>
      <p:sp>
        <p:nvSpPr>
          <p:cNvPr id="29" name="Shape 27"/>
          <p:cNvSpPr/>
          <p:nvPr/>
        </p:nvSpPr>
        <p:spPr>
          <a:xfrm>
            <a:off x="7726680" y="2103120"/>
            <a:ext cx="2194560" cy="3474720"/>
          </a:xfrm>
          <a:prstGeom prst="roundRect">
            <a:avLst>
              <a:gd name="adj" fmla="val 6250"/>
            </a:avLst>
          </a:prstGeom>
          <a:solidFill>
            <a:srgbClr val="0B2545"/>
          </a:solidFill>
          <a:ln w="12700">
            <a:solidFill>
              <a:srgbClr val="1B6CA8"/>
            </a:solidFill>
            <a:prstDash val="solid"/>
          </a:ln>
        </p:spPr>
      </p:sp>
      <p:sp>
        <p:nvSpPr>
          <p:cNvPr id="30" name="Text 28"/>
          <p:cNvSpPr/>
          <p:nvPr/>
        </p:nvSpPr>
        <p:spPr>
          <a:xfrm>
            <a:off x="7863840" y="2286000"/>
            <a:ext cx="1920240" cy="274320"/>
          </a:xfrm>
          <a:prstGeom prst="rect">
            <a:avLst/>
          </a:prstGeom>
          <a:noFill/>
          <a:ln/>
        </p:spPr>
        <p:txBody>
          <a:bodyPr wrap="square" rtlCol="0" anchor="ctr"/>
          <a:lstStyle/>
          <a:p>
            <a:pPr indent="0" marL="0">
              <a:buNone/>
            </a:pPr>
            <a:r>
              <a:rPr lang="en-US" sz="950" b="1" dirty="0">
                <a:solidFill>
                  <a:srgbClr val="F43F5E"/>
                </a:solidFill>
                <a:latin typeface="Helvetica" pitchFamily="34" charset="0"/>
                <a:ea typeface="Helvetica" pitchFamily="34" charset="-122"/>
                <a:cs typeface="Helvetica" pitchFamily="34" charset="-120"/>
              </a:rPr>
              <a:t>Eliminated (r=0.06)</a:t>
            </a:r>
            <a:endParaRPr lang="en-US" sz="950" dirty="0"/>
          </a:p>
        </p:txBody>
      </p:sp>
      <p:sp>
        <p:nvSpPr>
          <p:cNvPr id="31" name="Text 29"/>
          <p:cNvSpPr/>
          <p:nvPr/>
        </p:nvSpPr>
        <p:spPr>
          <a:xfrm>
            <a:off x="7863840" y="2606040"/>
            <a:ext cx="1920240" cy="548640"/>
          </a:xfrm>
          <a:prstGeom prst="rect">
            <a:avLst/>
          </a:prstGeom>
          <a:noFill/>
          <a:ln/>
        </p:spPr>
        <p:txBody>
          <a:bodyPr wrap="square" rtlCol="0" anchor="ctr"/>
          <a:lstStyle/>
          <a:p>
            <a:pPr indent="0" marL="0">
              <a:buNone/>
            </a:pPr>
            <a:r>
              <a:rPr lang="en-US" sz="1600" b="1" dirty="0">
                <a:solidFill>
                  <a:srgbClr val="FFFFFF"/>
                </a:solidFill>
                <a:latin typeface="Helvetica" pitchFamily="34" charset="0"/>
                <a:ea typeface="Helvetica" pitchFamily="34" charset="-122"/>
                <a:cs typeface="Helvetica" pitchFamily="34" charset="-120"/>
              </a:rPr>
              <a:t>Trend Projection</a:t>
            </a:r>
            <a:endParaRPr lang="en-US" sz="1600" dirty="0"/>
          </a:p>
        </p:txBody>
      </p:sp>
      <p:sp>
        <p:nvSpPr>
          <p:cNvPr id="32" name="Text 30"/>
          <p:cNvSpPr/>
          <p:nvPr/>
        </p:nvSpPr>
        <p:spPr>
          <a:xfrm>
            <a:off x="7863840" y="3200400"/>
            <a:ext cx="1920240" cy="365760"/>
          </a:xfrm>
          <a:prstGeom prst="rect">
            <a:avLst/>
          </a:prstGeom>
          <a:noFill/>
          <a:ln/>
        </p:spPr>
        <p:txBody>
          <a:bodyPr wrap="square" rtlCol="0" anchor="ctr"/>
          <a:lstStyle/>
          <a:p>
            <a:pPr indent="0" marL="0">
              <a:buNone/>
            </a:pPr>
            <a:r>
              <a:rPr lang="en-US" sz="1000" dirty="0">
                <a:solidFill>
                  <a:srgbClr val="CBD5E1"/>
                </a:solidFill>
                <a:latin typeface="Helvetica" pitchFamily="34" charset="0"/>
                <a:ea typeface="Helvetica" pitchFamily="34" charset="-122"/>
                <a:cs typeface="Helvetica" pitchFamily="34" charset="-120"/>
              </a:rPr>
              <a:t>y = 411,621 - 2,216*t</a:t>
            </a:r>
            <a:endParaRPr lang="en-US" sz="1000" dirty="0"/>
          </a:p>
        </p:txBody>
      </p:sp>
      <p:sp>
        <p:nvSpPr>
          <p:cNvPr id="33" name="Text 31"/>
          <p:cNvSpPr/>
          <p:nvPr/>
        </p:nvSpPr>
        <p:spPr>
          <a:xfrm>
            <a:off x="7863840" y="374904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MAE</a:t>
            </a:r>
            <a:endParaRPr lang="en-US" sz="900" dirty="0"/>
          </a:p>
        </p:txBody>
      </p:sp>
      <p:sp>
        <p:nvSpPr>
          <p:cNvPr id="34" name="Text 32"/>
          <p:cNvSpPr/>
          <p:nvPr/>
        </p:nvSpPr>
        <p:spPr>
          <a:xfrm>
            <a:off x="7863840" y="3977640"/>
            <a:ext cx="1920240" cy="457200"/>
          </a:xfrm>
          <a:prstGeom prst="rect">
            <a:avLst/>
          </a:prstGeom>
          <a:noFill/>
          <a:ln/>
        </p:spPr>
        <p:txBody>
          <a:bodyPr wrap="square" rtlCol="0" anchor="ctr"/>
          <a:lstStyle/>
          <a:p>
            <a:pPr indent="0" marL="0">
              <a:buNone/>
            </a:pPr>
            <a:r>
              <a:rPr lang="en-US" sz="2000" b="1" dirty="0">
                <a:solidFill>
                  <a:srgbClr val="F43F5E"/>
                </a:solidFill>
                <a:latin typeface="Helvetica" pitchFamily="34" charset="0"/>
                <a:ea typeface="Helvetica" pitchFamily="34" charset="-122"/>
                <a:cs typeface="Helvetica" pitchFamily="34" charset="-120"/>
              </a:rPr>
              <a:t>41,175</a:t>
            </a:r>
            <a:endParaRPr lang="en-US" sz="2000" dirty="0"/>
          </a:p>
        </p:txBody>
      </p:sp>
      <p:sp>
        <p:nvSpPr>
          <p:cNvPr id="35" name="Text 33"/>
          <p:cNvSpPr/>
          <p:nvPr/>
        </p:nvSpPr>
        <p:spPr>
          <a:xfrm>
            <a:off x="7863840" y="4572000"/>
            <a:ext cx="1920240" cy="228600"/>
          </a:xfrm>
          <a:prstGeom prst="rect">
            <a:avLst/>
          </a:prstGeom>
          <a:noFill/>
          <a:ln/>
        </p:spPr>
        <p:txBody>
          <a:bodyPr wrap="square" rtlCol="0" anchor="ctr"/>
          <a:lstStyle/>
          <a:p>
            <a:pPr indent="0" marL="0">
              <a:buNone/>
            </a:pPr>
            <a:r>
              <a:rPr lang="en-US" sz="900" dirty="0">
                <a:solidFill>
                  <a:srgbClr val="94A3B8"/>
                </a:solidFill>
                <a:latin typeface="Helvetica" pitchFamily="34" charset="0"/>
                <a:ea typeface="Helvetica" pitchFamily="34" charset="-122"/>
                <a:cs typeface="Helvetica" pitchFamily="34" charset="-120"/>
              </a:rPr>
              <a:t>DEV MAPE</a:t>
            </a:r>
            <a:endParaRPr lang="en-US" sz="900" dirty="0"/>
          </a:p>
        </p:txBody>
      </p:sp>
      <p:sp>
        <p:nvSpPr>
          <p:cNvPr id="36" name="Text 34"/>
          <p:cNvSpPr/>
          <p:nvPr/>
        </p:nvSpPr>
        <p:spPr>
          <a:xfrm>
            <a:off x="7863840" y="4800600"/>
            <a:ext cx="1920240" cy="365760"/>
          </a:xfrm>
          <a:prstGeom prst="rect">
            <a:avLst/>
          </a:prstGeom>
          <a:noFill/>
          <a:ln/>
        </p:spPr>
        <p:txBody>
          <a:bodyPr wrap="square" rtlCol="0" anchor="ctr"/>
          <a:lstStyle/>
          <a:p>
            <a:pPr indent="0" marL="0">
              <a:buNone/>
            </a:pPr>
            <a:r>
              <a:rPr lang="en-US" sz="1600" b="1" dirty="0">
                <a:solidFill>
                  <a:srgbClr val="CBD5E1"/>
                </a:solidFill>
                <a:latin typeface="Helvetica" pitchFamily="34" charset="0"/>
                <a:ea typeface="Helvetica" pitchFamily="34" charset="-122"/>
                <a:cs typeface="Helvetica" pitchFamily="34" charset="-120"/>
              </a:rPr>
              <a:t>11.76%</a:t>
            </a:r>
            <a:endParaRPr lang="en-US" sz="1600" dirty="0"/>
          </a:p>
        </p:txBody>
      </p:sp>
      <p:sp>
        <p:nvSpPr>
          <p:cNvPr id="37" name="Text 35"/>
          <p:cNvSpPr/>
          <p:nvPr/>
        </p:nvSpPr>
        <p:spPr>
          <a:xfrm>
            <a:off x="731520" y="5943600"/>
            <a:ext cx="9144000" cy="274320"/>
          </a:xfrm>
          <a:prstGeom prst="rect">
            <a:avLst/>
          </a:prstGeom>
          <a:noFill/>
          <a:ln/>
        </p:spPr>
        <p:txBody>
          <a:bodyPr wrap="square" rtlCol="0" anchor="ctr"/>
          <a:lstStyle/>
          <a:p>
            <a:pPr indent="0" marL="0">
              <a:buNone/>
            </a:pPr>
            <a:r>
              <a:rPr lang="en-US" sz="1000" dirty="0">
                <a:solidFill>
                  <a:srgbClr val="94A3B8"/>
                </a:solidFill>
                <a:latin typeface="Helvetica" pitchFamily="34" charset="0"/>
                <a:ea typeface="Helvetica" pitchFamily="34" charset="-122"/>
                <a:cs typeface="Helvetica" pitchFamily="34" charset="-120"/>
              </a:rPr>
              <a:t>IE-PC 3112: Operations Management 1 · Group 7 · Speaker: Aligato, Elaiza Jane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54864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ACT II: CONVENTIONAL OM BASELINE SELECTION</a:t>
            </a:r>
            <a:endParaRPr lang="en-US" sz="1100" dirty="0"/>
          </a:p>
        </p:txBody>
      </p:sp>
      <p:sp>
        <p:nvSpPr>
          <p:cNvPr id="3" name="Text 1"/>
          <p:cNvSpPr/>
          <p:nvPr/>
        </p:nvSpPr>
        <p:spPr>
          <a:xfrm>
            <a:off x="731520" y="868680"/>
            <a:ext cx="9144000" cy="731520"/>
          </a:xfrm>
          <a:prstGeom prst="rect">
            <a:avLst/>
          </a:prstGeom>
          <a:noFill/>
          <a:ln/>
        </p:spPr>
        <p:txBody>
          <a:bodyPr wrap="square" rtlCol="0" anchor="ctr"/>
          <a:lstStyle/>
          <a:p>
            <a:pPr indent="0" marL="0">
              <a:buNone/>
            </a:pPr>
            <a:r>
              <a:rPr lang="en-US" sz="3600" dirty="0">
                <a:solidFill>
                  <a:srgbClr val="FFFFFF"/>
                </a:solidFill>
                <a:latin typeface="Helvetica" pitchFamily="34" charset="0"/>
                <a:ea typeface="Helvetica" pitchFamily="34" charset="-122"/>
                <a:cs typeface="Helvetica" pitchFamily="34" charset="-120"/>
              </a:rPr>
              <a:t>The Conventional Call</a:t>
            </a:r>
            <a:endParaRPr lang="en-US" sz="3600" dirty="0"/>
          </a:p>
        </p:txBody>
      </p:sp>
      <p:sp>
        <p:nvSpPr>
          <p:cNvPr id="4" name="Shape 2"/>
          <p:cNvSpPr/>
          <p:nvPr/>
        </p:nvSpPr>
        <p:spPr>
          <a:xfrm>
            <a:off x="731520" y="1828800"/>
            <a:ext cx="9144000" cy="1371600"/>
          </a:xfrm>
          <a:prstGeom prst="roundRect">
            <a:avLst>
              <a:gd name="adj" fmla="val 10000"/>
            </a:avLst>
          </a:prstGeom>
          <a:solidFill>
            <a:srgbClr val="0B2545"/>
          </a:solidFill>
          <a:ln w="25400">
            <a:solidFill>
              <a:srgbClr val="F2A541"/>
            </a:solidFill>
            <a:prstDash val="solid"/>
          </a:ln>
        </p:spPr>
      </p:sp>
      <p:sp>
        <p:nvSpPr>
          <p:cNvPr id="5" name="Text 3"/>
          <p:cNvSpPr/>
          <p:nvPr/>
        </p:nvSpPr>
        <p:spPr>
          <a:xfrm>
            <a:off x="1005840" y="2011680"/>
            <a:ext cx="8595360" cy="274320"/>
          </a:xfrm>
          <a:prstGeom prst="rect">
            <a:avLst/>
          </a:prstGeom>
          <a:noFill/>
          <a:ln/>
        </p:spPr>
        <p:txBody>
          <a:bodyPr wrap="square" rtlCol="0" anchor="ctr"/>
          <a:lstStyle/>
          <a:p>
            <a:pPr indent="0" marL="0">
              <a:buNone/>
            </a:pPr>
            <a:r>
              <a:rPr lang="en-US" sz="1000" b="1" spc="100" kern="0" dirty="0">
                <a:solidFill>
                  <a:srgbClr val="F2A541"/>
                </a:solidFill>
                <a:latin typeface="Helvetica" pitchFamily="34" charset="0"/>
                <a:ea typeface="Helvetica" pitchFamily="34" charset="-122"/>
                <a:cs typeface="Helvetica" pitchFamily="34" charset="-120"/>
              </a:rPr>
              <a:t>OFFICIALLY LOCKED BASELINE BEFORE VALIDATION</a:t>
            </a:r>
            <a:endParaRPr lang="en-US" sz="1000" dirty="0"/>
          </a:p>
        </p:txBody>
      </p:sp>
      <p:sp>
        <p:nvSpPr>
          <p:cNvPr id="6" name="Text 4"/>
          <p:cNvSpPr/>
          <p:nvPr/>
        </p:nvSpPr>
        <p:spPr>
          <a:xfrm>
            <a:off x="1005840" y="2286000"/>
            <a:ext cx="8595360" cy="640080"/>
          </a:xfrm>
          <a:prstGeom prst="rect">
            <a:avLst/>
          </a:prstGeom>
          <a:noFill/>
          <a:ln/>
        </p:spPr>
        <p:txBody>
          <a:bodyPr wrap="square" rtlCol="0" anchor="ctr"/>
          <a:lstStyle/>
          <a:p>
            <a:pPr indent="0" marL="0">
              <a:buNone/>
            </a:pPr>
            <a:r>
              <a:rPr lang="en-US" sz="3000" b="1" dirty="0">
                <a:solidFill>
                  <a:srgbClr val="FFFFFF"/>
                </a:solidFill>
                <a:latin typeface="Helvetica" pitchFamily="34" charset="0"/>
                <a:ea typeface="Helvetica" pitchFamily="34" charset="-122"/>
                <a:cs typeface="Helvetica" pitchFamily="34" charset="-120"/>
              </a:rPr>
              <a:t>Exponential Smoothing (α = 0.50)</a:t>
            </a:r>
            <a:endParaRPr lang="en-US" sz="3000" dirty="0"/>
          </a:p>
        </p:txBody>
      </p:sp>
      <p:sp>
        <p:nvSpPr>
          <p:cNvPr id="7" name="Shape 5"/>
          <p:cNvSpPr/>
          <p:nvPr/>
        </p:nvSpPr>
        <p:spPr>
          <a:xfrm>
            <a:off x="731520" y="3474720"/>
            <a:ext cx="2926080" cy="2103120"/>
          </a:xfrm>
          <a:prstGeom prst="roundRect">
            <a:avLst>
              <a:gd name="adj" fmla="val 6522"/>
            </a:avLst>
          </a:prstGeom>
          <a:solidFill>
            <a:srgbClr val="0B2545"/>
          </a:solidFill>
          <a:ln w="12700">
            <a:solidFill>
              <a:srgbClr val="1B6CA8"/>
            </a:solidFill>
            <a:prstDash val="solid"/>
          </a:ln>
        </p:spPr>
      </p:sp>
      <p:sp>
        <p:nvSpPr>
          <p:cNvPr id="8" name="Text 6"/>
          <p:cNvSpPr/>
          <p:nvPr/>
        </p:nvSpPr>
        <p:spPr>
          <a:xfrm>
            <a:off x="914400" y="3657600"/>
            <a:ext cx="2560320" cy="274320"/>
          </a:xfrm>
          <a:prstGeom prst="rect">
            <a:avLst/>
          </a:prstGeom>
          <a:noFill/>
          <a:ln/>
        </p:spPr>
        <p:txBody>
          <a:bodyPr wrap="square" rtlCol="0" anchor="ctr"/>
          <a:lstStyle/>
          <a:p>
            <a:pPr indent="0" marL="0">
              <a:buNone/>
            </a:pPr>
            <a:r>
              <a:rPr lang="en-US" sz="1000" b="1" dirty="0">
                <a:solidFill>
                  <a:srgbClr val="38BDF8"/>
                </a:solidFill>
                <a:latin typeface="Helvetica" pitchFamily="34" charset="0"/>
                <a:ea typeface="Helvetica" pitchFamily="34" charset="-122"/>
                <a:cs typeface="Helvetica" pitchFamily="34" charset="-120"/>
              </a:rPr>
              <a:t>DEVELOPMENT MAE</a:t>
            </a:r>
            <a:endParaRPr lang="en-US" sz="1000" dirty="0"/>
          </a:p>
        </p:txBody>
      </p:sp>
      <p:sp>
        <p:nvSpPr>
          <p:cNvPr id="9" name="Text 7"/>
          <p:cNvSpPr/>
          <p:nvPr/>
        </p:nvSpPr>
        <p:spPr>
          <a:xfrm>
            <a:off x="914400" y="3977640"/>
            <a:ext cx="2560320" cy="45720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30,595.71 TEUs</a:t>
            </a:r>
            <a:endParaRPr lang="en-US" sz="1800" dirty="0"/>
          </a:p>
        </p:txBody>
      </p:sp>
      <p:sp>
        <p:nvSpPr>
          <p:cNvPr id="10" name="Text 8"/>
          <p:cNvSpPr/>
          <p:nvPr/>
        </p:nvSpPr>
        <p:spPr>
          <a:xfrm>
            <a:off x="914400" y="4526280"/>
            <a:ext cx="2560320" cy="822960"/>
          </a:xfrm>
          <a:prstGeom prst="rect">
            <a:avLst/>
          </a:prstGeom>
          <a:noFill/>
          <a:ln/>
        </p:spPr>
        <p:txBody>
          <a:bodyPr wrap="square" rtlCol="0" anchor="ctr"/>
          <a:lstStyle/>
          <a:p>
            <a:pPr indent="0" marL="0">
              <a:buNone/>
            </a:pPr>
            <a:r>
              <a:rPr lang="en-US" sz="1100" dirty="0">
                <a:solidFill>
                  <a:srgbClr val="CBD5E1"/>
                </a:solidFill>
                <a:latin typeface="Helvetica" pitchFamily="34" charset="0"/>
                <a:ea typeface="Helvetica" pitchFamily="34" charset="-122"/>
                <a:cs typeface="Helvetica" pitchFamily="34" charset="-120"/>
              </a:rPr>
              <a:t>Lowest across all development contenders</a:t>
            </a:r>
            <a:endParaRPr lang="en-US" sz="1100" dirty="0"/>
          </a:p>
        </p:txBody>
      </p:sp>
      <p:sp>
        <p:nvSpPr>
          <p:cNvPr id="11" name="Shape 9"/>
          <p:cNvSpPr/>
          <p:nvPr/>
        </p:nvSpPr>
        <p:spPr>
          <a:xfrm>
            <a:off x="3840480" y="3474720"/>
            <a:ext cx="2926080" cy="2103120"/>
          </a:xfrm>
          <a:prstGeom prst="roundRect">
            <a:avLst>
              <a:gd name="adj" fmla="val 6522"/>
            </a:avLst>
          </a:prstGeom>
          <a:solidFill>
            <a:srgbClr val="0B2545"/>
          </a:solidFill>
          <a:ln w="12700">
            <a:solidFill>
              <a:srgbClr val="1B6CA8"/>
            </a:solidFill>
            <a:prstDash val="solid"/>
          </a:ln>
        </p:spPr>
      </p:sp>
      <p:sp>
        <p:nvSpPr>
          <p:cNvPr id="12" name="Text 10"/>
          <p:cNvSpPr/>
          <p:nvPr/>
        </p:nvSpPr>
        <p:spPr>
          <a:xfrm>
            <a:off x="4023360" y="3657600"/>
            <a:ext cx="2560320" cy="274320"/>
          </a:xfrm>
          <a:prstGeom prst="rect">
            <a:avLst/>
          </a:prstGeom>
          <a:noFill/>
          <a:ln/>
        </p:spPr>
        <p:txBody>
          <a:bodyPr wrap="square" rtlCol="0" anchor="ctr"/>
          <a:lstStyle/>
          <a:p>
            <a:pPr indent="0" marL="0">
              <a:buNone/>
            </a:pPr>
            <a:r>
              <a:rPr lang="en-US" sz="1000" b="1" dirty="0">
                <a:solidFill>
                  <a:srgbClr val="38BDF8"/>
                </a:solidFill>
                <a:latin typeface="Helvetica" pitchFamily="34" charset="0"/>
                <a:ea typeface="Helvetica" pitchFamily="34" charset="-122"/>
                <a:cs typeface="Helvetica" pitchFamily="34" charset="-120"/>
              </a:rPr>
              <a:t>DEVELOPMENT MAPE</a:t>
            </a:r>
            <a:endParaRPr lang="en-US" sz="1000" dirty="0"/>
          </a:p>
        </p:txBody>
      </p:sp>
      <p:sp>
        <p:nvSpPr>
          <p:cNvPr id="13" name="Text 11"/>
          <p:cNvSpPr/>
          <p:nvPr/>
        </p:nvSpPr>
        <p:spPr>
          <a:xfrm>
            <a:off x="4023360" y="3977640"/>
            <a:ext cx="2560320" cy="45720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8.80%</a:t>
            </a:r>
            <a:endParaRPr lang="en-US" sz="1800" dirty="0"/>
          </a:p>
        </p:txBody>
      </p:sp>
      <p:sp>
        <p:nvSpPr>
          <p:cNvPr id="14" name="Text 12"/>
          <p:cNvSpPr/>
          <p:nvPr/>
        </p:nvSpPr>
        <p:spPr>
          <a:xfrm>
            <a:off x="4023360" y="4526280"/>
            <a:ext cx="2560320" cy="822960"/>
          </a:xfrm>
          <a:prstGeom prst="rect">
            <a:avLst/>
          </a:prstGeom>
          <a:noFill/>
          <a:ln/>
        </p:spPr>
        <p:txBody>
          <a:bodyPr wrap="square" rtlCol="0" anchor="ctr"/>
          <a:lstStyle/>
          <a:p>
            <a:pPr indent="0" marL="0">
              <a:buNone/>
            </a:pPr>
            <a:r>
              <a:rPr lang="en-US" sz="1100" dirty="0">
                <a:solidFill>
                  <a:srgbClr val="CBD5E1"/>
                </a:solidFill>
                <a:latin typeface="Helvetica" pitchFamily="34" charset="0"/>
                <a:ea typeface="Helvetica" pitchFamily="34" charset="-122"/>
                <a:cs typeface="Helvetica" pitchFamily="34" charset="-120"/>
              </a:rPr>
              <a:t>Superior tracking of post-shock trajectory</a:t>
            </a:r>
            <a:endParaRPr lang="en-US" sz="1100" dirty="0"/>
          </a:p>
        </p:txBody>
      </p:sp>
      <p:sp>
        <p:nvSpPr>
          <p:cNvPr id="15" name="Shape 13"/>
          <p:cNvSpPr/>
          <p:nvPr/>
        </p:nvSpPr>
        <p:spPr>
          <a:xfrm>
            <a:off x="6949440" y="3474720"/>
            <a:ext cx="2926080" cy="2103120"/>
          </a:xfrm>
          <a:prstGeom prst="roundRect">
            <a:avLst>
              <a:gd name="adj" fmla="val 6522"/>
            </a:avLst>
          </a:prstGeom>
          <a:solidFill>
            <a:srgbClr val="0B2545"/>
          </a:solidFill>
          <a:ln w="12700">
            <a:solidFill>
              <a:srgbClr val="1B6CA8"/>
            </a:solidFill>
            <a:prstDash val="solid"/>
          </a:ln>
        </p:spPr>
      </p:sp>
      <p:sp>
        <p:nvSpPr>
          <p:cNvPr id="16" name="Text 14"/>
          <p:cNvSpPr/>
          <p:nvPr/>
        </p:nvSpPr>
        <p:spPr>
          <a:xfrm>
            <a:off x="7132320" y="3657600"/>
            <a:ext cx="2560320" cy="274320"/>
          </a:xfrm>
          <a:prstGeom prst="rect">
            <a:avLst/>
          </a:prstGeom>
          <a:noFill/>
          <a:ln/>
        </p:spPr>
        <p:txBody>
          <a:bodyPr wrap="square" rtlCol="0" anchor="ctr"/>
          <a:lstStyle/>
          <a:p>
            <a:pPr indent="0" marL="0">
              <a:buNone/>
            </a:pPr>
            <a:r>
              <a:rPr lang="en-US" sz="1000" b="1" dirty="0">
                <a:solidFill>
                  <a:srgbClr val="38BDF8"/>
                </a:solidFill>
                <a:latin typeface="Helvetica" pitchFamily="34" charset="0"/>
                <a:ea typeface="Helvetica" pitchFamily="34" charset="-122"/>
                <a:cs typeface="Helvetica" pitchFamily="34" charset="-120"/>
              </a:rPr>
              <a:t>DECISION ADVANTAGE</a:t>
            </a:r>
            <a:endParaRPr lang="en-US" sz="1000" dirty="0"/>
          </a:p>
        </p:txBody>
      </p:sp>
      <p:sp>
        <p:nvSpPr>
          <p:cNvPr id="17" name="Text 15"/>
          <p:cNvSpPr/>
          <p:nvPr/>
        </p:nvSpPr>
        <p:spPr>
          <a:xfrm>
            <a:off x="7132320" y="3977640"/>
            <a:ext cx="2560320" cy="457200"/>
          </a:xfrm>
          <a:prstGeom prst="rect">
            <a:avLst/>
          </a:prstGeom>
          <a:noFill/>
          <a:ln/>
        </p:spPr>
        <p:txBody>
          <a:bodyPr wrap="square" rtlCol="0" anchor="ctr"/>
          <a:lstStyle/>
          <a:p>
            <a:pPr indent="0" marL="0">
              <a:buNone/>
            </a:pPr>
            <a:r>
              <a:rPr lang="en-US" sz="1800" b="1" dirty="0">
                <a:solidFill>
                  <a:srgbClr val="FFFFFF"/>
                </a:solidFill>
                <a:latin typeface="Helvetica" pitchFamily="34" charset="0"/>
                <a:ea typeface="Helvetica" pitchFamily="34" charset="-122"/>
                <a:cs typeface="Helvetica" pitchFamily="34" charset="-120"/>
              </a:rPr>
              <a:t>Dynamic Adaptability</a:t>
            </a:r>
            <a:endParaRPr lang="en-US" sz="1800" dirty="0"/>
          </a:p>
        </p:txBody>
      </p:sp>
      <p:sp>
        <p:nvSpPr>
          <p:cNvPr id="18" name="Text 16"/>
          <p:cNvSpPr/>
          <p:nvPr/>
        </p:nvSpPr>
        <p:spPr>
          <a:xfrm>
            <a:off x="7132320" y="4526280"/>
            <a:ext cx="2560320" cy="822960"/>
          </a:xfrm>
          <a:prstGeom prst="rect">
            <a:avLst/>
          </a:prstGeom>
          <a:noFill/>
          <a:ln/>
        </p:spPr>
        <p:txBody>
          <a:bodyPr wrap="square" rtlCol="0" anchor="ctr"/>
          <a:lstStyle/>
          <a:p>
            <a:pPr indent="0" marL="0">
              <a:buNone/>
            </a:pPr>
            <a:r>
              <a:rPr lang="en-US" sz="1100" dirty="0">
                <a:solidFill>
                  <a:srgbClr val="CBD5E1"/>
                </a:solidFill>
                <a:latin typeface="Helvetica" pitchFamily="34" charset="0"/>
                <a:ea typeface="Helvetica" pitchFamily="34" charset="-122"/>
                <a:cs typeface="Helvetica" pitchFamily="34" charset="-120"/>
              </a:rPr>
              <a:t>Reacts fast to shifts without severe noise overfitting</a:t>
            </a:r>
            <a:endParaRPr lang="en-US" sz="1100" dirty="0"/>
          </a:p>
        </p:txBody>
      </p:sp>
      <p:sp>
        <p:nvSpPr>
          <p:cNvPr id="19" name="Text 17"/>
          <p:cNvSpPr/>
          <p:nvPr/>
        </p:nvSpPr>
        <p:spPr>
          <a:xfrm>
            <a:off x="731520" y="5943600"/>
            <a:ext cx="9144000" cy="274320"/>
          </a:xfrm>
          <a:prstGeom prst="rect">
            <a:avLst/>
          </a:prstGeom>
          <a:noFill/>
          <a:ln/>
        </p:spPr>
        <p:txBody>
          <a:bodyPr wrap="square" rtlCol="0" anchor="ctr"/>
          <a:lstStyle/>
          <a:p>
            <a:pPr indent="0" marL="0">
              <a:buNone/>
            </a:pPr>
            <a:r>
              <a:rPr lang="en-US" sz="1000" dirty="0">
                <a:solidFill>
                  <a:srgbClr val="94A3B8"/>
                </a:solidFill>
                <a:latin typeface="Helvetica" pitchFamily="34" charset="0"/>
                <a:ea typeface="Helvetica" pitchFamily="34" charset="-122"/>
                <a:cs typeface="Helvetica" pitchFamily="34" charset="-120"/>
              </a:rPr>
              <a:t>IE-PC 3112: Operations Management 1 · Group 7 · Speaker: Ansay, Rash Mae Crystelle 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54864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ACT II: STATISTICAL &amp; MACHINE LEARNING RESULTS</a:t>
            </a:r>
            <a:endParaRPr lang="en-US" sz="1100" dirty="0"/>
          </a:p>
        </p:txBody>
      </p:sp>
      <p:sp>
        <p:nvSpPr>
          <p:cNvPr id="3" name="Text 1"/>
          <p:cNvSpPr/>
          <p:nvPr/>
        </p:nvSpPr>
        <p:spPr>
          <a:xfrm>
            <a:off x="731520" y="868680"/>
            <a:ext cx="9144000" cy="731520"/>
          </a:xfrm>
          <a:prstGeom prst="rect">
            <a:avLst/>
          </a:prstGeom>
          <a:noFill/>
          <a:ln/>
        </p:spPr>
        <p:txBody>
          <a:bodyPr wrap="square" rtlCol="0" anchor="ctr"/>
          <a:lstStyle/>
          <a:p>
            <a:pPr indent="0" marL="0">
              <a:buNone/>
            </a:pPr>
            <a:r>
              <a:rPr lang="en-US" sz="3600" dirty="0">
                <a:solidFill>
                  <a:srgbClr val="FFFFFF"/>
                </a:solidFill>
                <a:latin typeface="Helvetica" pitchFamily="34" charset="0"/>
                <a:ea typeface="Helvetica" pitchFamily="34" charset="-122"/>
                <a:cs typeface="Helvetica" pitchFamily="34" charset="-120"/>
              </a:rPr>
              <a:t>The Algorithmic Challengers</a:t>
            </a:r>
            <a:endParaRPr lang="en-US" sz="3600" dirty="0"/>
          </a:p>
        </p:txBody>
      </p:sp>
      <p:sp>
        <p:nvSpPr>
          <p:cNvPr id="4" name="Text 2"/>
          <p:cNvSpPr/>
          <p:nvPr/>
        </p:nvSpPr>
        <p:spPr>
          <a:xfrm>
            <a:off x="731520" y="1600200"/>
            <a:ext cx="9144000" cy="274320"/>
          </a:xfrm>
          <a:prstGeom prst="rect">
            <a:avLst/>
          </a:prstGeom>
          <a:noFill/>
          <a:ln/>
        </p:spPr>
        <p:txBody>
          <a:bodyPr wrap="square" rtlCol="0" anchor="ctr"/>
          <a:lstStyle/>
          <a:p>
            <a:pPr indent="0" marL="0">
              <a:buNone/>
            </a:pPr>
            <a:r>
              <a:rPr lang="en-US" sz="1300" dirty="0">
                <a:solidFill>
                  <a:srgbClr val="94A3B8"/>
                </a:solidFill>
                <a:latin typeface="Helvetica" pitchFamily="34" charset="0"/>
                <a:ea typeface="Helvetica" pitchFamily="34" charset="-122"/>
                <a:cs typeface="Helvetica" pitchFamily="34" charset="-120"/>
              </a:rPr>
              <a:t>Python Implementations using Instructor Code 1–15 on Same 30/6 Split</a:t>
            </a:r>
            <a:endParaRPr lang="en-US" sz="1300" dirty="0"/>
          </a:p>
        </p:txBody>
      </p:sp>
      <p:sp>
        <p:nvSpPr>
          <p:cNvPr id="5" name="Shape 3"/>
          <p:cNvSpPr/>
          <p:nvPr/>
        </p:nvSpPr>
        <p:spPr>
          <a:xfrm>
            <a:off x="731520" y="2103120"/>
            <a:ext cx="2926080" cy="3474720"/>
          </a:xfrm>
          <a:prstGeom prst="roundRect">
            <a:avLst>
              <a:gd name="adj" fmla="val 4688"/>
            </a:avLst>
          </a:prstGeom>
          <a:solidFill>
            <a:srgbClr val="0B2545"/>
          </a:solidFill>
          <a:ln w="25400">
            <a:solidFill>
              <a:srgbClr val="F2A541"/>
            </a:solidFill>
            <a:prstDash val="solid"/>
          </a:ln>
        </p:spPr>
      </p:sp>
      <p:sp>
        <p:nvSpPr>
          <p:cNvPr id="6" name="Text 4"/>
          <p:cNvSpPr/>
          <p:nvPr/>
        </p:nvSpPr>
        <p:spPr>
          <a:xfrm>
            <a:off x="914400" y="2286000"/>
            <a:ext cx="2560320" cy="274320"/>
          </a:xfrm>
          <a:prstGeom prst="rect">
            <a:avLst/>
          </a:prstGeom>
          <a:noFill/>
          <a:ln/>
        </p:spPr>
        <p:txBody>
          <a:bodyPr wrap="square" rtlCol="0" anchor="ctr"/>
          <a:lstStyle/>
          <a:p>
            <a:pPr indent="0" marL="0">
              <a:buNone/>
            </a:pPr>
            <a:r>
              <a:rPr lang="en-US" sz="1000" b="1" dirty="0">
                <a:solidFill>
                  <a:srgbClr val="F2A541"/>
                </a:solidFill>
                <a:latin typeface="Helvetica" pitchFamily="34" charset="0"/>
                <a:ea typeface="Helvetica" pitchFamily="34" charset="-122"/>
                <a:cs typeface="Helvetica" pitchFamily="34" charset="-120"/>
              </a:rPr>
              <a:t>Optimal Order ★</a:t>
            </a:r>
            <a:endParaRPr lang="en-US" sz="1000" dirty="0"/>
          </a:p>
        </p:txBody>
      </p:sp>
      <p:sp>
        <p:nvSpPr>
          <p:cNvPr id="7" name="Text 5"/>
          <p:cNvSpPr/>
          <p:nvPr/>
        </p:nvSpPr>
        <p:spPr>
          <a:xfrm>
            <a:off x="914400" y="2606040"/>
            <a:ext cx="2560320" cy="457200"/>
          </a:xfrm>
          <a:prstGeom prst="rect">
            <a:avLst/>
          </a:prstGeom>
          <a:noFill/>
          <a:ln/>
        </p:spPr>
        <p:txBody>
          <a:bodyPr wrap="square"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ARIMA (1,1,0)</a:t>
            </a:r>
            <a:endParaRPr lang="en-US" sz="2000" dirty="0"/>
          </a:p>
        </p:txBody>
      </p:sp>
      <p:sp>
        <p:nvSpPr>
          <p:cNvPr id="8" name="Text 6"/>
          <p:cNvSpPr/>
          <p:nvPr/>
        </p:nvSpPr>
        <p:spPr>
          <a:xfrm>
            <a:off x="914400" y="3108960"/>
            <a:ext cx="2560320" cy="274320"/>
          </a:xfrm>
          <a:prstGeom prst="rect">
            <a:avLst/>
          </a:prstGeom>
          <a:noFill/>
          <a:ln/>
        </p:spPr>
        <p:txBody>
          <a:bodyPr wrap="square" rtlCol="0" anchor="ctr"/>
          <a:lstStyle/>
          <a:p>
            <a:pPr indent="0" marL="0">
              <a:buNone/>
            </a:pPr>
            <a:r>
              <a:rPr lang="en-US" sz="1100" dirty="0">
                <a:solidFill>
                  <a:srgbClr val="38BDF8"/>
                </a:solidFill>
                <a:latin typeface="Helvetica" pitchFamily="34" charset="0"/>
                <a:ea typeface="Helvetica" pitchFamily="34" charset="-122"/>
                <a:cs typeface="Helvetica" pitchFamily="34" charset="-120"/>
              </a:rPr>
              <a:t>Statistical Time Series</a:t>
            </a:r>
            <a:endParaRPr lang="en-US" sz="1100" dirty="0"/>
          </a:p>
        </p:txBody>
      </p:sp>
      <p:sp>
        <p:nvSpPr>
          <p:cNvPr id="9" name="Text 7"/>
          <p:cNvSpPr/>
          <p:nvPr/>
        </p:nvSpPr>
        <p:spPr>
          <a:xfrm>
            <a:off x="914400" y="3474720"/>
            <a:ext cx="2560320" cy="457200"/>
          </a:xfrm>
          <a:prstGeom prst="rect">
            <a:avLst/>
          </a:prstGeom>
          <a:noFill/>
          <a:ln/>
        </p:spPr>
        <p:txBody>
          <a:bodyPr wrap="square" rtlCol="0" anchor="ctr"/>
          <a:lstStyle/>
          <a:p>
            <a:pPr indent="0" marL="0">
              <a:buNone/>
            </a:pPr>
            <a:r>
              <a:rPr lang="en-US" sz="2000" b="1" dirty="0">
                <a:solidFill>
                  <a:srgbClr val="F2A541"/>
                </a:solidFill>
                <a:latin typeface="Helvetica" pitchFamily="34" charset="0"/>
                <a:ea typeface="Helvetica" pitchFamily="34" charset="-122"/>
                <a:cs typeface="Helvetica" pitchFamily="34" charset="-120"/>
              </a:rPr>
              <a:t>AIC: 701.43</a:t>
            </a:r>
            <a:endParaRPr lang="en-US" sz="2000" dirty="0"/>
          </a:p>
        </p:txBody>
      </p:sp>
      <p:sp>
        <p:nvSpPr>
          <p:cNvPr id="10" name="Text 8"/>
          <p:cNvSpPr/>
          <p:nvPr/>
        </p:nvSpPr>
        <p:spPr>
          <a:xfrm>
            <a:off x="914400" y="4023360"/>
            <a:ext cx="2560320" cy="1280160"/>
          </a:xfrm>
          <a:prstGeom prst="rect">
            <a:avLst/>
          </a:prstGeom>
          <a:noFill/>
          <a:ln/>
        </p:spPr>
        <p:txBody>
          <a:bodyPr wrap="square" rtlCol="0" anchor="ctr"/>
          <a:lstStyle/>
          <a:p>
            <a:pPr indent="0" marL="0">
              <a:lnSpc>
                <a:spcPct val="115000"/>
              </a:lnSpc>
              <a:buNone/>
            </a:pPr>
            <a:r>
              <a:rPr lang="en-US" sz="1100" dirty="0">
                <a:solidFill>
                  <a:srgbClr val="CBD5E1"/>
                </a:solidFill>
                <a:latin typeface="Helvetica" pitchFamily="34" charset="0"/>
                <a:ea typeface="Helvetica" pitchFamily="34" charset="-122"/>
                <a:cs typeface="Helvetica" pitchFamily="34" charset="-120"/>
              </a:rPr>
              <a:t>Evaluated 6 candidate orders; order (1,1,0) won with lowest AIC. Employs 1st differencing and 1 autoregressive lag to handle non-stationarity.</a:t>
            </a:r>
            <a:endParaRPr lang="en-US" sz="1100" dirty="0"/>
          </a:p>
        </p:txBody>
      </p:sp>
      <p:sp>
        <p:nvSpPr>
          <p:cNvPr id="11" name="Shape 9"/>
          <p:cNvSpPr/>
          <p:nvPr/>
        </p:nvSpPr>
        <p:spPr>
          <a:xfrm>
            <a:off x="3840480" y="2103120"/>
            <a:ext cx="2926080" cy="3474720"/>
          </a:xfrm>
          <a:prstGeom prst="roundRect">
            <a:avLst>
              <a:gd name="adj" fmla="val 4688"/>
            </a:avLst>
          </a:prstGeom>
          <a:solidFill>
            <a:srgbClr val="0B2545"/>
          </a:solidFill>
          <a:ln w="12700">
            <a:solidFill>
              <a:srgbClr val="1B6CA8"/>
            </a:solidFill>
            <a:prstDash val="solid"/>
          </a:ln>
        </p:spPr>
      </p:sp>
      <p:sp>
        <p:nvSpPr>
          <p:cNvPr id="12" name="Text 10"/>
          <p:cNvSpPr/>
          <p:nvPr/>
        </p:nvSpPr>
        <p:spPr>
          <a:xfrm>
            <a:off x="4023360" y="2286000"/>
            <a:ext cx="2560320" cy="274320"/>
          </a:xfrm>
          <a:prstGeom prst="rect">
            <a:avLst/>
          </a:prstGeom>
          <a:noFill/>
          <a:ln/>
        </p:spPr>
        <p:txBody>
          <a:bodyPr wrap="square" rtlCol="0" anchor="ctr"/>
          <a:lstStyle/>
          <a:p>
            <a:pPr indent="0" marL="0">
              <a:buNone/>
            </a:pPr>
            <a:r>
              <a:rPr lang="en-US" sz="1000" b="1" dirty="0">
                <a:solidFill>
                  <a:srgbClr val="38BDF8"/>
                </a:solidFill>
                <a:latin typeface="Helvetica" pitchFamily="34" charset="0"/>
                <a:ea typeface="Helvetica" pitchFamily="34" charset="-122"/>
                <a:cs typeface="Helvetica" pitchFamily="34" charset="-120"/>
              </a:rPr>
              <a:t>Feature Engineering</a:t>
            </a:r>
            <a:endParaRPr lang="en-US" sz="1000" dirty="0"/>
          </a:p>
        </p:txBody>
      </p:sp>
      <p:sp>
        <p:nvSpPr>
          <p:cNvPr id="13" name="Text 11"/>
          <p:cNvSpPr/>
          <p:nvPr/>
        </p:nvSpPr>
        <p:spPr>
          <a:xfrm>
            <a:off x="4023360" y="2606040"/>
            <a:ext cx="2560320" cy="457200"/>
          </a:xfrm>
          <a:prstGeom prst="rect">
            <a:avLst/>
          </a:prstGeom>
          <a:noFill/>
          <a:ln/>
        </p:spPr>
        <p:txBody>
          <a:bodyPr wrap="square"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Lagged Linear Reg.</a:t>
            </a:r>
            <a:endParaRPr lang="en-US" sz="2000" dirty="0"/>
          </a:p>
        </p:txBody>
      </p:sp>
      <p:sp>
        <p:nvSpPr>
          <p:cNvPr id="14" name="Text 12"/>
          <p:cNvSpPr/>
          <p:nvPr/>
        </p:nvSpPr>
        <p:spPr>
          <a:xfrm>
            <a:off x="4023360" y="3108960"/>
            <a:ext cx="2560320" cy="274320"/>
          </a:xfrm>
          <a:prstGeom prst="rect">
            <a:avLst/>
          </a:prstGeom>
          <a:noFill/>
          <a:ln/>
        </p:spPr>
        <p:txBody>
          <a:bodyPr wrap="square" rtlCol="0" anchor="ctr"/>
          <a:lstStyle/>
          <a:p>
            <a:pPr indent="0" marL="0">
              <a:buNone/>
            </a:pPr>
            <a:r>
              <a:rPr lang="en-US" sz="1100" dirty="0">
                <a:solidFill>
                  <a:srgbClr val="38BDF8"/>
                </a:solidFill>
                <a:latin typeface="Helvetica" pitchFamily="34" charset="0"/>
                <a:ea typeface="Helvetica" pitchFamily="34" charset="-122"/>
                <a:cs typeface="Helvetica" pitchFamily="34" charset="-120"/>
              </a:rPr>
              <a:t>Econometric Autoregression</a:t>
            </a:r>
            <a:endParaRPr lang="en-US" sz="1100" dirty="0"/>
          </a:p>
        </p:txBody>
      </p:sp>
      <p:sp>
        <p:nvSpPr>
          <p:cNvPr id="15" name="Text 13"/>
          <p:cNvSpPr/>
          <p:nvPr/>
        </p:nvSpPr>
        <p:spPr>
          <a:xfrm>
            <a:off x="4023360" y="3474720"/>
            <a:ext cx="2560320" cy="457200"/>
          </a:xfrm>
          <a:prstGeom prst="rect">
            <a:avLst/>
          </a:prstGeom>
          <a:noFill/>
          <a:ln/>
        </p:spPr>
        <p:txBody>
          <a:bodyPr wrap="square" rtlCol="0" anchor="ctr"/>
          <a:lstStyle/>
          <a:p>
            <a:pPr indent="0" marL="0">
              <a:buNone/>
            </a:pPr>
            <a:r>
              <a:rPr lang="en-US" sz="2000" b="1" dirty="0">
                <a:solidFill>
                  <a:srgbClr val="38BDF8"/>
                </a:solidFill>
                <a:latin typeface="Helvetica" pitchFamily="34" charset="0"/>
                <a:ea typeface="Helvetica" pitchFamily="34" charset="-122"/>
                <a:cs typeface="Helvetica" pitchFamily="34" charset="-120"/>
              </a:rPr>
              <a:t>3 Lagged Predictors</a:t>
            </a:r>
            <a:endParaRPr lang="en-US" sz="2000" dirty="0"/>
          </a:p>
        </p:txBody>
      </p:sp>
      <p:sp>
        <p:nvSpPr>
          <p:cNvPr id="16" name="Text 14"/>
          <p:cNvSpPr/>
          <p:nvPr/>
        </p:nvSpPr>
        <p:spPr>
          <a:xfrm>
            <a:off x="4023360" y="4023360"/>
            <a:ext cx="2560320" cy="1280160"/>
          </a:xfrm>
          <a:prstGeom prst="rect">
            <a:avLst/>
          </a:prstGeom>
          <a:noFill/>
          <a:ln/>
        </p:spPr>
        <p:txBody>
          <a:bodyPr wrap="square" rtlCol="0" anchor="ctr"/>
          <a:lstStyle/>
          <a:p>
            <a:pPr indent="0" marL="0">
              <a:lnSpc>
                <a:spcPct val="115000"/>
              </a:lnSpc>
              <a:buNone/>
            </a:pPr>
            <a:r>
              <a:rPr lang="en-US" sz="1100" dirty="0">
                <a:solidFill>
                  <a:srgbClr val="CBD5E1"/>
                </a:solidFill>
                <a:latin typeface="Helvetica" pitchFamily="34" charset="0"/>
                <a:ea typeface="Helvetica" pitchFamily="34" charset="-122"/>
                <a:cs typeface="Helvetica" pitchFamily="34" charset="-120"/>
              </a:rPr>
              <a:t>Uses the three prior months (t-1, t-2, t-3) as independent features to forecast next month via rolling regression.</a:t>
            </a:r>
            <a:endParaRPr lang="en-US" sz="1100" dirty="0"/>
          </a:p>
        </p:txBody>
      </p:sp>
      <p:sp>
        <p:nvSpPr>
          <p:cNvPr id="17" name="Shape 15"/>
          <p:cNvSpPr/>
          <p:nvPr/>
        </p:nvSpPr>
        <p:spPr>
          <a:xfrm>
            <a:off x="6949440" y="2103120"/>
            <a:ext cx="2926080" cy="3474720"/>
          </a:xfrm>
          <a:prstGeom prst="roundRect">
            <a:avLst>
              <a:gd name="adj" fmla="val 4688"/>
            </a:avLst>
          </a:prstGeom>
          <a:solidFill>
            <a:srgbClr val="0B2545"/>
          </a:solidFill>
          <a:ln w="12700">
            <a:solidFill>
              <a:srgbClr val="1B6CA8"/>
            </a:solidFill>
            <a:prstDash val="solid"/>
          </a:ln>
        </p:spPr>
      </p:sp>
      <p:sp>
        <p:nvSpPr>
          <p:cNvPr id="18" name="Text 16"/>
          <p:cNvSpPr/>
          <p:nvPr/>
        </p:nvSpPr>
        <p:spPr>
          <a:xfrm>
            <a:off x="7132320" y="2286000"/>
            <a:ext cx="2560320" cy="274320"/>
          </a:xfrm>
          <a:prstGeom prst="rect">
            <a:avLst/>
          </a:prstGeom>
          <a:noFill/>
          <a:ln/>
        </p:spPr>
        <p:txBody>
          <a:bodyPr wrap="square" rtlCol="0" anchor="ctr"/>
          <a:lstStyle/>
          <a:p>
            <a:pPr indent="0" marL="0">
              <a:buNone/>
            </a:pPr>
            <a:r>
              <a:rPr lang="en-US" sz="1000" b="1" dirty="0">
                <a:solidFill>
                  <a:srgbClr val="94A3B8"/>
                </a:solidFill>
                <a:latin typeface="Helvetica" pitchFamily="34" charset="0"/>
                <a:ea typeface="Helvetica" pitchFamily="34" charset="-122"/>
                <a:cs typeface="Helvetica" pitchFamily="34" charset="-120"/>
              </a:rPr>
              <a:t>Complex Ensemble</a:t>
            </a:r>
            <a:endParaRPr lang="en-US" sz="1000" dirty="0"/>
          </a:p>
        </p:txBody>
      </p:sp>
      <p:sp>
        <p:nvSpPr>
          <p:cNvPr id="19" name="Text 17"/>
          <p:cNvSpPr/>
          <p:nvPr/>
        </p:nvSpPr>
        <p:spPr>
          <a:xfrm>
            <a:off x="7132320" y="2606040"/>
            <a:ext cx="2560320" cy="457200"/>
          </a:xfrm>
          <a:prstGeom prst="rect">
            <a:avLst/>
          </a:prstGeom>
          <a:noFill/>
          <a:ln/>
        </p:spPr>
        <p:txBody>
          <a:bodyPr wrap="square" rtlCol="0" anchor="ctr"/>
          <a:lstStyle/>
          <a:p>
            <a:pPr indent="0" marL="0">
              <a:buNone/>
            </a:pPr>
            <a:r>
              <a:rPr lang="en-US" sz="2000" b="1" dirty="0">
                <a:solidFill>
                  <a:srgbClr val="FFFFFF"/>
                </a:solidFill>
                <a:latin typeface="Helvetica" pitchFamily="34" charset="0"/>
                <a:ea typeface="Helvetica" pitchFamily="34" charset="-122"/>
                <a:cs typeface="Helvetica" pitchFamily="34" charset="-120"/>
              </a:rPr>
              <a:t>Random Forest</a:t>
            </a:r>
            <a:endParaRPr lang="en-US" sz="2000" dirty="0"/>
          </a:p>
        </p:txBody>
      </p:sp>
      <p:sp>
        <p:nvSpPr>
          <p:cNvPr id="20" name="Text 18"/>
          <p:cNvSpPr/>
          <p:nvPr/>
        </p:nvSpPr>
        <p:spPr>
          <a:xfrm>
            <a:off x="7132320" y="3108960"/>
            <a:ext cx="2560320" cy="274320"/>
          </a:xfrm>
          <a:prstGeom prst="rect">
            <a:avLst/>
          </a:prstGeom>
          <a:noFill/>
          <a:ln/>
        </p:spPr>
        <p:txBody>
          <a:bodyPr wrap="square" rtlCol="0" anchor="ctr"/>
          <a:lstStyle/>
          <a:p>
            <a:pPr indent="0" marL="0">
              <a:buNone/>
            </a:pPr>
            <a:r>
              <a:rPr lang="en-US" sz="1100" dirty="0">
                <a:solidFill>
                  <a:srgbClr val="38BDF8"/>
                </a:solidFill>
                <a:latin typeface="Helvetica" pitchFamily="34" charset="0"/>
                <a:ea typeface="Helvetica" pitchFamily="34" charset="-122"/>
                <a:cs typeface="Helvetica" pitchFamily="34" charset="-120"/>
              </a:rPr>
              <a:t>Ensemble Machine Learning</a:t>
            </a:r>
            <a:endParaRPr lang="en-US" sz="1100" dirty="0"/>
          </a:p>
        </p:txBody>
      </p:sp>
      <p:sp>
        <p:nvSpPr>
          <p:cNvPr id="21" name="Text 19"/>
          <p:cNvSpPr/>
          <p:nvPr/>
        </p:nvSpPr>
        <p:spPr>
          <a:xfrm>
            <a:off x="7132320" y="3474720"/>
            <a:ext cx="2560320" cy="457200"/>
          </a:xfrm>
          <a:prstGeom prst="rect">
            <a:avLst/>
          </a:prstGeom>
          <a:noFill/>
          <a:ln/>
        </p:spPr>
        <p:txBody>
          <a:bodyPr wrap="square" rtlCol="0" anchor="ctr"/>
          <a:lstStyle/>
          <a:p>
            <a:pPr indent="0" marL="0">
              <a:buNone/>
            </a:pPr>
            <a:r>
              <a:rPr lang="en-US" sz="2000" b="1" dirty="0">
                <a:solidFill>
                  <a:srgbClr val="94A3B8"/>
                </a:solidFill>
                <a:latin typeface="Helvetica" pitchFamily="34" charset="0"/>
                <a:ea typeface="Helvetica" pitchFamily="34" charset="-122"/>
                <a:cs typeface="Helvetica" pitchFamily="34" charset="-120"/>
              </a:rPr>
              <a:t>100 Trees · Depth 3</a:t>
            </a:r>
            <a:endParaRPr lang="en-US" sz="2000" dirty="0"/>
          </a:p>
        </p:txBody>
      </p:sp>
      <p:sp>
        <p:nvSpPr>
          <p:cNvPr id="22" name="Text 20"/>
          <p:cNvSpPr/>
          <p:nvPr/>
        </p:nvSpPr>
        <p:spPr>
          <a:xfrm>
            <a:off x="7132320" y="4023360"/>
            <a:ext cx="2560320" cy="1280160"/>
          </a:xfrm>
          <a:prstGeom prst="rect">
            <a:avLst/>
          </a:prstGeom>
          <a:noFill/>
          <a:ln/>
        </p:spPr>
        <p:txBody>
          <a:bodyPr wrap="square" rtlCol="0" anchor="ctr"/>
          <a:lstStyle/>
          <a:p>
            <a:pPr indent="0" marL="0">
              <a:lnSpc>
                <a:spcPct val="115000"/>
              </a:lnSpc>
              <a:buNone/>
            </a:pPr>
            <a:r>
              <a:rPr lang="en-US" sz="1100" dirty="0">
                <a:solidFill>
                  <a:srgbClr val="CBD5E1"/>
                </a:solidFill>
                <a:latin typeface="Helvetica" pitchFamily="34" charset="0"/>
                <a:ea typeface="Helvetica" pitchFamily="34" charset="-122"/>
                <a:cs typeface="Helvetica" pitchFamily="34" charset="-120"/>
              </a:rPr>
              <a:t>Non-linear decision tree ensemble with random_state=42. Built to capture intricate interactions across rolling historical lags.</a:t>
            </a:r>
            <a:endParaRPr lang="en-US" sz="1100" dirty="0"/>
          </a:p>
        </p:txBody>
      </p:sp>
      <p:sp>
        <p:nvSpPr>
          <p:cNvPr id="23" name="Text 21"/>
          <p:cNvSpPr/>
          <p:nvPr/>
        </p:nvSpPr>
        <p:spPr>
          <a:xfrm>
            <a:off x="731520" y="5943600"/>
            <a:ext cx="9144000" cy="274320"/>
          </a:xfrm>
          <a:prstGeom prst="rect">
            <a:avLst/>
          </a:prstGeom>
          <a:noFill/>
          <a:ln/>
        </p:spPr>
        <p:txBody>
          <a:bodyPr wrap="square" rtlCol="0" anchor="ctr"/>
          <a:lstStyle/>
          <a:p>
            <a:pPr indent="0" marL="0">
              <a:buNone/>
            </a:pPr>
            <a:r>
              <a:rPr lang="en-US" sz="1000" dirty="0">
                <a:solidFill>
                  <a:srgbClr val="94A3B8"/>
                </a:solidFill>
                <a:latin typeface="Helvetica" pitchFamily="34" charset="0"/>
                <a:ea typeface="Helvetica" pitchFamily="34" charset="-122"/>
                <a:cs typeface="Helvetica" pitchFamily="34" charset="-120"/>
              </a:rPr>
              <a:t>IE-PC 3112: Operations Management 1 · Group 7 · Speaker: Ansay, Rash Mae Crystelle C.</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45720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ACT III: THE 6-METRIC EVIDENCE REVEAL</a:t>
            </a:r>
            <a:endParaRPr lang="en-US" sz="1100" dirty="0"/>
          </a:p>
        </p:txBody>
      </p:sp>
      <p:sp>
        <p:nvSpPr>
          <p:cNvPr id="3" name="Text 1"/>
          <p:cNvSpPr/>
          <p:nvPr/>
        </p:nvSpPr>
        <p:spPr>
          <a:xfrm>
            <a:off x="731520" y="731520"/>
            <a:ext cx="9144000" cy="640080"/>
          </a:xfrm>
          <a:prstGeom prst="rect">
            <a:avLst/>
          </a:prstGeom>
          <a:noFill/>
          <a:ln/>
        </p:spPr>
        <p:txBody>
          <a:bodyPr wrap="square" rtlCol="0" anchor="ctr"/>
          <a:lstStyle/>
          <a:p>
            <a:pPr indent="0" marL="0">
              <a:buNone/>
            </a:pPr>
            <a:r>
              <a:rPr lang="en-US" sz="3200" dirty="0">
                <a:solidFill>
                  <a:srgbClr val="FFFFFF"/>
                </a:solidFill>
                <a:latin typeface="Helvetica" pitchFamily="34" charset="0"/>
                <a:ea typeface="Helvetica" pitchFamily="34" charset="-122"/>
                <a:cs typeface="Helvetica" pitchFamily="34" charset="-120"/>
              </a:rPr>
              <a:t>Validation Accuracy Across All 6 Metrics</a:t>
            </a:r>
            <a:endParaRPr lang="en-US" sz="3200" dirty="0"/>
          </a:p>
        </p:txBody>
      </p:sp>
      <p:sp>
        <p:nvSpPr>
          <p:cNvPr id="4" name="Text 2"/>
          <p:cNvSpPr/>
          <p:nvPr/>
        </p:nvSpPr>
        <p:spPr>
          <a:xfrm>
            <a:off x="731520" y="1371600"/>
            <a:ext cx="9144000" cy="274320"/>
          </a:xfrm>
          <a:prstGeom prst="rect">
            <a:avLst/>
          </a:prstGeom>
          <a:noFill/>
          <a:ln/>
        </p:spPr>
        <p:txBody>
          <a:bodyPr wrap="square" rtlCol="0" anchor="ctr"/>
          <a:lstStyle/>
          <a:p>
            <a:pPr indent="0" marL="0">
              <a:buNone/>
            </a:pPr>
            <a:r>
              <a:rPr lang="en-US" sz="1200" dirty="0">
                <a:solidFill>
                  <a:srgbClr val="94A3B8"/>
                </a:solidFill>
                <a:latin typeface="Helvetica" pitchFamily="34" charset="0"/>
                <a:ea typeface="Helvetica" pitchFamily="34" charset="-122"/>
                <a:cs typeface="Helvetica" pitchFamily="34" charset="-120"/>
              </a:rPr>
              <a:t>Evaluation on Unseen Holdout Months 31–36 (Jul–Dec 2024 · Average: 445,126 TEUs)</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737360"/>
          <a:ext cx="9144000" cy="914400"/>
        </p:xfrm>
        <a:graphic>
          <a:graphicData uri="http://schemas.openxmlformats.org/drawingml/2006/table">
            <a:tbl>
              <a:tblPr/>
              <a:tblGrid>
                <a:gridCol w="2377440"/>
                <a:gridCol w="1280160"/>
                <a:gridCol w="1097280"/>
                <a:gridCol w="1097280"/>
                <a:gridCol w="1097280"/>
                <a:gridCol w="1097280"/>
                <a:gridCol w="1097280"/>
              </a:tblGrid>
              <a:tr h="0">
                <a:tc>
                  <a:txBody>
                    <a:bodyPr/>
                    <a:lstStyle/>
                    <a:p>
                      <a:pPr algn="l" indent="0" marL="0">
                        <a:buNone/>
                      </a:pPr>
                      <a:r>
                        <a:rPr lang="en-US" sz="1000" b="1" dirty="0">
                          <a:solidFill>
                            <a:srgbClr val="FFFFFF"/>
                          </a:solidFill>
                        </a:rPr>
                        <a:t>Rank &amp; Model</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c>
                  <a:txBody>
                    <a:bodyPr/>
                    <a:lstStyle/>
                    <a:p>
                      <a:pPr algn="l" indent="0" marL="0">
                        <a:buNone/>
                      </a:pPr>
                      <a:r>
                        <a:rPr lang="en-US" sz="1000" b="1" dirty="0">
                          <a:solidFill>
                            <a:srgbClr val="FFFFFF"/>
                          </a:solidFill>
                        </a:rPr>
                        <a:t>Family</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c>
                  <a:txBody>
                    <a:bodyPr/>
                    <a:lstStyle/>
                    <a:p>
                      <a:pPr algn="l" indent="0" marL="0">
                        <a:buNone/>
                      </a:pPr>
                      <a:r>
                        <a:rPr lang="en-US" sz="1000" b="1" dirty="0">
                          <a:solidFill>
                            <a:srgbClr val="FFFFFF"/>
                          </a:solidFill>
                        </a:rPr>
                        <a:t>MAE (TEUs)</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c>
                  <a:txBody>
                    <a:bodyPr/>
                    <a:lstStyle/>
                    <a:p>
                      <a:pPr algn="l" indent="0" marL="0">
                        <a:buNone/>
                      </a:pPr>
                      <a:r>
                        <a:rPr lang="en-US" sz="1000" b="1" dirty="0">
                          <a:solidFill>
                            <a:srgbClr val="FFFFFF"/>
                          </a:solidFill>
                        </a:rPr>
                        <a:t>RMSE</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c>
                  <a:txBody>
                    <a:bodyPr/>
                    <a:lstStyle/>
                    <a:p>
                      <a:pPr algn="l" indent="0" marL="0">
                        <a:buNone/>
                      </a:pPr>
                      <a:r>
                        <a:rPr lang="en-US" sz="1000" b="1" dirty="0">
                          <a:solidFill>
                            <a:srgbClr val="FFFFFF"/>
                          </a:solidFill>
                        </a:rPr>
                        <a:t>MAPE (%)</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c>
                  <a:txBody>
                    <a:bodyPr/>
                    <a:lstStyle/>
                    <a:p>
                      <a:pPr algn="l" indent="0" marL="0">
                        <a:buNone/>
                      </a:pPr>
                      <a:r>
                        <a:rPr lang="en-US" sz="1000" b="1" dirty="0">
                          <a:solidFill>
                            <a:srgbClr val="FFFFFF"/>
                          </a:solidFill>
                        </a:rPr>
                        <a:t>SMAPE (%)</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c>
                  <a:txBody>
                    <a:bodyPr/>
                    <a:lstStyle/>
                    <a:p>
                      <a:pPr algn="l" indent="0" marL="0">
                        <a:buNone/>
                      </a:pPr>
                      <a:r>
                        <a:rPr lang="en-US" sz="1000" b="1" dirty="0">
                          <a:solidFill>
                            <a:srgbClr val="FFFFFF"/>
                          </a:solidFill>
                        </a:rPr>
                        <a:t>MPE (%)</a:t>
                      </a:r>
                      <a:endParaRPr lang="en-US" sz="100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B6CA8"/>
                    </a:solidFill>
                  </a:tcPr>
                </a:tc>
              </a:tr>
              <a:tr h="0">
                <a:tc>
                  <a:txBody>
                    <a:bodyPr/>
                    <a:lstStyle/>
                    <a:p>
                      <a:pPr algn="l" indent="0" marL="0">
                        <a:buNone/>
                      </a:pPr>
                      <a:r>
                        <a:rPr lang="en-US" sz="950" b="1" dirty="0">
                          <a:solidFill>
                            <a:srgbClr val="F2A541"/>
                          </a:solidFill>
                        </a:rPr>
                        <a:t>#1 ARIMA (1,1,0) ★</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c>
                  <a:txBody>
                    <a:bodyPr/>
                    <a:lstStyle/>
                    <a:p>
                      <a:pPr algn="l" indent="0" marL="0">
                        <a:buNone/>
                      </a:pPr>
                      <a:r>
                        <a:rPr lang="en-US" sz="950" b="1" dirty="0">
                          <a:solidFill>
                            <a:srgbClr val="F2A541"/>
                          </a:solidFill>
                        </a:rPr>
                        <a:t>Statistical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c>
                  <a:txBody>
                    <a:bodyPr/>
                    <a:lstStyle/>
                    <a:p>
                      <a:pPr algn="l" indent="0" marL="0">
                        <a:buNone/>
                      </a:pPr>
                      <a:r>
                        <a:rPr lang="en-US" sz="950" b="1" dirty="0">
                          <a:solidFill>
                            <a:srgbClr val="F2A541"/>
                          </a:solidFill>
                        </a:rPr>
                        <a:t>20,919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c>
                  <a:txBody>
                    <a:bodyPr/>
                    <a:lstStyle/>
                    <a:p>
                      <a:pPr algn="l" indent="0" marL="0">
                        <a:buNone/>
                      </a:pPr>
                      <a:r>
                        <a:rPr lang="en-US" sz="950" b="1" dirty="0">
                          <a:solidFill>
                            <a:srgbClr val="F2A541"/>
                          </a:solidFill>
                        </a:rPr>
                        <a:t>24,426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c>
                  <a:txBody>
                    <a:bodyPr/>
                    <a:lstStyle/>
                    <a:p>
                      <a:pPr algn="l" indent="0" marL="0">
                        <a:buNone/>
                      </a:pPr>
                      <a:r>
                        <a:rPr lang="en-US" sz="950" b="1" dirty="0">
                          <a:solidFill>
                            <a:srgbClr val="F2A541"/>
                          </a:solidFill>
                        </a:rPr>
                        <a:t>4.71%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c>
                  <a:txBody>
                    <a:bodyPr/>
                    <a:lstStyle/>
                    <a:p>
                      <a:pPr algn="l" indent="0" marL="0">
                        <a:buNone/>
                      </a:pPr>
                      <a:r>
                        <a:rPr lang="en-US" sz="950" b="1" dirty="0">
                          <a:solidFill>
                            <a:srgbClr val="F2A541"/>
                          </a:solidFill>
                        </a:rPr>
                        <a:t>4.82%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c>
                  <a:txBody>
                    <a:bodyPr/>
                    <a:lstStyle/>
                    <a:p>
                      <a:pPr algn="l" indent="0" marL="0">
                        <a:buNone/>
                      </a:pPr>
                      <a:r>
                        <a:rPr lang="en-US" sz="950" b="1" dirty="0">
                          <a:solidFill>
                            <a:srgbClr val="F2A541"/>
                          </a:solidFill>
                        </a:rPr>
                        <a:t>+2.43%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163860"/>
                    </a:solidFill>
                  </a:tcPr>
                </a:tc>
              </a:tr>
              <a:tr h="0">
                <a:tc>
                  <a:txBody>
                    <a:bodyPr/>
                    <a:lstStyle/>
                    <a:p>
                      <a:pPr algn="l" indent="0" marL="0">
                        <a:buNone/>
                      </a:pPr>
                      <a:r>
                        <a:rPr lang="en-US" sz="950" dirty="0">
                          <a:solidFill>
                            <a:srgbClr val="FFFFFF"/>
                          </a:solidFill>
                        </a:rPr>
                        <a:t>#2 ETS α = 0.80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Conventional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22,952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26,323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5.17%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5.31%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+2.90%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r>
              <a:tr h="0">
                <a:tc>
                  <a:txBody>
                    <a:bodyPr/>
                    <a:lstStyle/>
                    <a:p>
                      <a:pPr algn="l" indent="0" marL="0">
                        <a:buNone/>
                      </a:pPr>
                      <a:r>
                        <a:rPr lang="en-US" sz="950" dirty="0">
                          <a:solidFill>
                            <a:srgbClr val="FFFFFF"/>
                          </a:solidFill>
                        </a:rPr>
                        <a:t>#3 ETS α = 0.50 (Selected)</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Conventional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27,725</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33,064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6.22%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6.49%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+4.93%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r>
              <a:tr h="0">
                <a:tc>
                  <a:txBody>
                    <a:bodyPr/>
                    <a:lstStyle/>
                    <a:p>
                      <a:pPr algn="l" indent="0" marL="0">
                        <a:buNone/>
                      </a:pPr>
                      <a:r>
                        <a:rPr lang="en-US" sz="950" dirty="0">
                          <a:solidFill>
                            <a:srgbClr val="FFFFFF"/>
                          </a:solidFill>
                        </a:rPr>
                        <a:t>#4 3-Period WMA</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Conventional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28,473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32,962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6.41%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6.66%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+4.12%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r>
              <a:tr h="0">
                <a:tc>
                  <a:txBody>
                    <a:bodyPr/>
                    <a:lstStyle/>
                    <a:p>
                      <a:pPr algn="l" indent="0" marL="0">
                        <a:buNone/>
                      </a:pPr>
                      <a:r>
                        <a:rPr lang="en-US" sz="950" dirty="0">
                          <a:solidFill>
                            <a:srgbClr val="FFFFFF"/>
                          </a:solidFill>
                        </a:rPr>
                        <a:t>#5 3-Period SMA</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Conventional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31,927</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37,934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7.19%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7.53%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+4.96%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r>
              <a:tr h="0">
                <a:tc>
                  <a:txBody>
                    <a:bodyPr/>
                    <a:lstStyle/>
                    <a:p>
                      <a:pPr algn="l" indent="0" marL="0">
                        <a:buNone/>
                      </a:pPr>
                      <a:r>
                        <a:rPr lang="en-US" sz="950" dirty="0">
                          <a:solidFill>
                            <a:srgbClr val="FFFFFF"/>
                          </a:solidFill>
                        </a:rPr>
                        <a:t>#6 Random Forest</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Machine Learning</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37,138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42,988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8.31%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8.79%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+7.34%</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r>
              <a:tr h="0">
                <a:tc>
                  <a:txBody>
                    <a:bodyPr/>
                    <a:lstStyle/>
                    <a:p>
                      <a:pPr algn="l" indent="0" marL="0">
                        <a:buNone/>
                      </a:pPr>
                      <a:r>
                        <a:rPr lang="en-US" sz="950" dirty="0">
                          <a:solidFill>
                            <a:srgbClr val="FFFFFF"/>
                          </a:solidFill>
                        </a:rPr>
                        <a:t>#7 Lagged Linear Reg.</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Machine Learning</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37,990</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41,559</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8.48%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8.93%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c>
                  <a:txBody>
                    <a:bodyPr/>
                    <a:lstStyle/>
                    <a:p>
                      <a:pPr algn="l" indent="0" marL="0">
                        <a:buNone/>
                      </a:pPr>
                      <a:r>
                        <a:rPr lang="en-US" sz="950" dirty="0">
                          <a:solidFill>
                            <a:srgbClr val="CBD5E1"/>
                          </a:solidFill>
                        </a:rPr>
                        <a:t>+8.48%</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81528"/>
                    </a:solidFill>
                  </a:tcPr>
                </a:tc>
              </a:tr>
              <a:tr h="0">
                <a:tc>
                  <a:txBody>
                    <a:bodyPr/>
                    <a:lstStyle/>
                    <a:p>
                      <a:pPr algn="l" indent="0" marL="0">
                        <a:buNone/>
                      </a:pPr>
                      <a:r>
                        <a:rPr lang="en-US" sz="950" dirty="0">
                          <a:solidFill>
                            <a:srgbClr val="FFFFFF"/>
                          </a:solidFill>
                        </a:rPr>
                        <a:t>#8 Trend Projection</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Conventional</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52,142</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53,363</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11.66%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12.41%</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c>
                  <a:txBody>
                    <a:bodyPr/>
                    <a:lstStyle/>
                    <a:p>
                      <a:pPr algn="l" indent="0" marL="0">
                        <a:buNone/>
                      </a:pPr>
                      <a:r>
                        <a:rPr lang="en-US" sz="950" dirty="0">
                          <a:solidFill>
                            <a:srgbClr val="CBD5E1"/>
                          </a:solidFill>
                        </a:rPr>
                        <a:t>+11.66%</a:t>
                      </a:r>
                      <a:endParaRPr lang="en-US" sz="950" dirty="0"/>
                    </a:p>
                  </a:txBody>
                  <a:tcPr marL="91440" marR="91440" marT="45720" marB="45720">
                    <a:lnL w="6350" cap="flat" cmpd="sng" algn="ctr">
                      <a:solidFill>
                        <a:srgbClr val="1E293B"/>
                      </a:solidFill>
                      <a:prstDash val="solid"/>
                      <a:round/>
                      <a:headEnd type="none" w="med" len="med"/>
                      <a:tailEnd type="none" w="med" len="med"/>
                    </a:lnL>
                    <a:lnR w="6350" cap="flat" cmpd="sng" algn="ctr">
                      <a:solidFill>
                        <a:srgbClr val="1E293B"/>
                      </a:solidFill>
                      <a:prstDash val="solid"/>
                      <a:round/>
                      <a:headEnd type="none" w="med" len="med"/>
                      <a:tailEnd type="none" w="med" len="med"/>
                    </a:lnR>
                    <a:lnT w="6350" cap="flat" cmpd="sng" algn="ctr">
                      <a:solidFill>
                        <a:srgbClr val="1E293B"/>
                      </a:solidFill>
                      <a:prstDash val="solid"/>
                      <a:round/>
                      <a:headEnd type="none" w="med" len="med"/>
                      <a:tailEnd type="none" w="med" len="med"/>
                    </a:lnT>
                    <a:lnB w="6350" cap="flat" cmpd="sng" algn="ctr">
                      <a:solidFill>
                        <a:srgbClr val="1E293B"/>
                      </a:solidFill>
                      <a:prstDash val="solid"/>
                      <a:round/>
                      <a:headEnd type="none" w="med" len="med"/>
                      <a:tailEnd type="none" w="med" len="med"/>
                    </a:lnB>
                    <a:solidFill>
                      <a:srgbClr val="0B2545"/>
                    </a:solidFill>
                  </a:tcPr>
                </a:tc>
              </a:tr>
            </a:tbl>
          </a:graphicData>
        </a:graphic>
      </p:graphicFrame>
      <p:sp>
        <p:nvSpPr>
          <p:cNvPr id="6" name="Shape 3"/>
          <p:cNvSpPr/>
          <p:nvPr/>
        </p:nvSpPr>
        <p:spPr>
          <a:xfrm>
            <a:off x="731520" y="5029200"/>
            <a:ext cx="9144000" cy="731520"/>
          </a:xfrm>
          <a:prstGeom prst="roundRect">
            <a:avLst>
              <a:gd name="adj" fmla="val 12500"/>
            </a:avLst>
          </a:prstGeom>
          <a:solidFill>
            <a:srgbClr val="1E3A5F"/>
          </a:solidFill>
          <a:ln w="12700">
            <a:solidFill>
              <a:srgbClr val="F2A541"/>
            </a:solidFill>
            <a:prstDash val="solid"/>
          </a:ln>
        </p:spPr>
      </p:sp>
      <p:sp>
        <p:nvSpPr>
          <p:cNvPr id="7" name="Text 4"/>
          <p:cNvSpPr/>
          <p:nvPr/>
        </p:nvSpPr>
        <p:spPr>
          <a:xfrm>
            <a:off x="914400" y="5120640"/>
            <a:ext cx="8778240" cy="548640"/>
          </a:xfrm>
          <a:prstGeom prst="rect">
            <a:avLst/>
          </a:prstGeom>
          <a:noFill/>
          <a:ln/>
        </p:spPr>
        <p:txBody>
          <a:bodyPr wrap="square" rtlCol="0" anchor="ctr"/>
          <a:lstStyle/>
          <a:p>
            <a:pPr indent="0" marL="0">
              <a:buNone/>
            </a:pPr>
            <a:r>
              <a:rPr lang="en-US" sz="1100" b="1" dirty="0">
                <a:solidFill>
                  <a:srgbClr val="FFFFFF"/>
                </a:solidFill>
                <a:latin typeface="Helvetica" pitchFamily="34" charset="0"/>
                <a:ea typeface="Helvetica" pitchFamily="34" charset="-122"/>
                <a:cs typeface="Helvetica" pitchFamily="34" charset="-120"/>
              </a:rPr>
              <a:t>KEY VALIDATION VERDICT: ARIMA (1,1,0) won on every metric by a ~25% error margin. Machine learning models overfit and landed behind four conventional baselines.</a:t>
            </a:r>
            <a:endParaRPr lang="en-US" sz="1100" dirty="0"/>
          </a:p>
        </p:txBody>
      </p:sp>
      <p:sp>
        <p:nvSpPr>
          <p:cNvPr id="8" name="Text 5"/>
          <p:cNvSpPr/>
          <p:nvPr/>
        </p:nvSpPr>
        <p:spPr>
          <a:xfrm>
            <a:off x="731520" y="5943600"/>
            <a:ext cx="9144000" cy="274320"/>
          </a:xfrm>
          <a:prstGeom prst="rect">
            <a:avLst/>
          </a:prstGeom>
          <a:noFill/>
          <a:ln/>
        </p:spPr>
        <p:txBody>
          <a:bodyPr wrap="square" rtlCol="0" anchor="ctr"/>
          <a:lstStyle/>
          <a:p>
            <a:pPr indent="0" marL="0">
              <a:buNone/>
            </a:pPr>
            <a:r>
              <a:rPr lang="en-US" sz="1000" dirty="0">
                <a:solidFill>
                  <a:srgbClr val="94A3B8"/>
                </a:solidFill>
                <a:latin typeface="Helvetica" pitchFamily="34" charset="0"/>
                <a:ea typeface="Helvetica" pitchFamily="34" charset="-122"/>
                <a:cs typeface="Helvetica" pitchFamily="34" charset="-120"/>
              </a:rPr>
              <a:t>IE-PC 3112: Operations Management 1 · Group 7 · Speaker: Villagracia, Mylene Joy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B14"/>
        </a:solidFill>
      </p:bgPr>
    </p:bg>
    <p:spTree>
      <p:nvGrpSpPr>
        <p:cNvPr id="1" name=""/>
        <p:cNvGrpSpPr/>
        <p:nvPr/>
      </p:nvGrpSpPr>
      <p:grpSpPr>
        <a:xfrm>
          <a:off x="0" y="0"/>
          <a:ext cx="0" cy="0"/>
          <a:chOff x="0" y="0"/>
          <a:chExt cx="0" cy="0"/>
        </a:xfrm>
      </p:grpSpPr>
      <p:sp>
        <p:nvSpPr>
          <p:cNvPr id="2" name="Text 0"/>
          <p:cNvSpPr/>
          <p:nvPr/>
        </p:nvSpPr>
        <p:spPr>
          <a:xfrm>
            <a:off x="731520" y="457200"/>
            <a:ext cx="7772400" cy="274320"/>
          </a:xfrm>
          <a:prstGeom prst="rect">
            <a:avLst/>
          </a:prstGeom>
          <a:noFill/>
          <a:ln/>
        </p:spPr>
        <p:txBody>
          <a:bodyPr wrap="square" rtlCol="0" anchor="ctr"/>
          <a:lstStyle/>
          <a:p>
            <a:pPr indent="0" marL="0">
              <a:buNone/>
            </a:pPr>
            <a:r>
              <a:rPr lang="en-US" sz="1100" b="1" spc="200" kern="0" dirty="0">
                <a:solidFill>
                  <a:srgbClr val="38BDF8"/>
                </a:solidFill>
                <a:latin typeface="Helvetica" pitchFamily="34" charset="0"/>
                <a:ea typeface="Helvetica" pitchFamily="34" charset="-122"/>
                <a:cs typeface="Helvetica" pitchFamily="34" charset="-120"/>
              </a:rPr>
              <a:t>ACT III: OPERATIONAL DECISIONS &amp; INDUSTRY 5.0</a:t>
            </a:r>
            <a:endParaRPr lang="en-US" sz="1100" dirty="0"/>
          </a:p>
        </p:txBody>
      </p:sp>
      <p:sp>
        <p:nvSpPr>
          <p:cNvPr id="3" name="Text 1"/>
          <p:cNvSpPr/>
          <p:nvPr/>
        </p:nvSpPr>
        <p:spPr>
          <a:xfrm>
            <a:off x="731520" y="777240"/>
            <a:ext cx="9144000" cy="640080"/>
          </a:xfrm>
          <a:prstGeom prst="rect">
            <a:avLst/>
          </a:prstGeom>
          <a:noFill/>
          <a:ln/>
        </p:spPr>
        <p:txBody>
          <a:bodyPr wrap="square" rtlCol="0" anchor="ctr"/>
          <a:lstStyle/>
          <a:p>
            <a:pPr indent="0" marL="0">
              <a:buNone/>
            </a:pPr>
            <a:r>
              <a:rPr lang="en-US" sz="3400" dirty="0">
                <a:solidFill>
                  <a:srgbClr val="FFFFFF"/>
                </a:solidFill>
                <a:latin typeface="Helvetica" pitchFamily="34" charset="0"/>
                <a:ea typeface="Helvetica" pitchFamily="34" charset="-122"/>
                <a:cs typeface="Helvetica" pitchFamily="34" charset="-120"/>
              </a:rPr>
              <a:t>Operations Action &amp; Human Oversight</a:t>
            </a:r>
            <a:endParaRPr lang="en-US" sz="3400" dirty="0"/>
          </a:p>
        </p:txBody>
      </p:sp>
      <p:sp>
        <p:nvSpPr>
          <p:cNvPr id="4" name="Shape 2"/>
          <p:cNvSpPr/>
          <p:nvPr/>
        </p:nvSpPr>
        <p:spPr>
          <a:xfrm>
            <a:off x="731520" y="1554480"/>
            <a:ext cx="2926080" cy="2468880"/>
          </a:xfrm>
          <a:prstGeom prst="roundRect">
            <a:avLst>
              <a:gd name="adj" fmla="val 5556"/>
            </a:avLst>
          </a:prstGeom>
          <a:solidFill>
            <a:srgbClr val="0B2545"/>
          </a:solidFill>
          <a:ln w="19050">
            <a:solidFill>
              <a:srgbClr val="1B6CA8"/>
            </a:solidFill>
            <a:prstDash val="solid"/>
          </a:ln>
        </p:spPr>
      </p:sp>
      <p:sp>
        <p:nvSpPr>
          <p:cNvPr id="5" name="Text 3"/>
          <p:cNvSpPr/>
          <p:nvPr/>
        </p:nvSpPr>
        <p:spPr>
          <a:xfrm>
            <a:off x="914400" y="1691640"/>
            <a:ext cx="2560320" cy="274320"/>
          </a:xfrm>
          <a:prstGeom prst="rect">
            <a:avLst/>
          </a:prstGeom>
          <a:noFill/>
          <a:ln/>
        </p:spPr>
        <p:txBody>
          <a:bodyPr wrap="square" rtlCol="0" anchor="ctr"/>
          <a:lstStyle/>
          <a:p>
            <a:pPr indent="0" marL="0">
              <a:buNone/>
            </a:pPr>
            <a:r>
              <a:rPr lang="en-US" sz="1100" b="1" dirty="0">
                <a:solidFill>
                  <a:srgbClr val="F2A541"/>
                </a:solidFill>
                <a:latin typeface="Helvetica" pitchFamily="34" charset="0"/>
                <a:ea typeface="Helvetica" pitchFamily="34" charset="-122"/>
                <a:cs typeface="Helvetica" pitchFamily="34" charset="-120"/>
              </a:rPr>
              <a:t>1. Capacity Floor</a:t>
            </a:r>
            <a:endParaRPr lang="en-US" sz="1100" dirty="0"/>
          </a:p>
        </p:txBody>
      </p:sp>
      <p:sp>
        <p:nvSpPr>
          <p:cNvPr id="6" name="Text 4"/>
          <p:cNvSpPr/>
          <p:nvPr/>
        </p:nvSpPr>
        <p:spPr>
          <a:xfrm>
            <a:off x="914400" y="1965960"/>
            <a:ext cx="2560320" cy="457200"/>
          </a:xfrm>
          <a:prstGeom prst="rect">
            <a:avLst/>
          </a:prstGeom>
          <a:noFill/>
          <a:ln/>
        </p:spPr>
        <p:txBody>
          <a:bodyPr wrap="square" rtlCol="0" anchor="ctr"/>
          <a:lstStyle/>
          <a:p>
            <a:pPr indent="0" marL="0">
              <a:buNone/>
            </a:pPr>
            <a:r>
              <a:rPr lang="en-US" sz="1500" b="1" dirty="0">
                <a:solidFill>
                  <a:srgbClr val="FFFFFF"/>
                </a:solidFill>
                <a:latin typeface="Helvetica" pitchFamily="34" charset="0"/>
                <a:ea typeface="Helvetica" pitchFamily="34" charset="-122"/>
                <a:cs typeface="Helvetica" pitchFamily="34" charset="-120"/>
              </a:rPr>
              <a:t>Treat ARIMA as Minimum</a:t>
            </a:r>
            <a:endParaRPr lang="en-US" sz="1500" dirty="0"/>
          </a:p>
        </p:txBody>
      </p:sp>
      <p:sp>
        <p:nvSpPr>
          <p:cNvPr id="7" name="Text 5"/>
          <p:cNvSpPr/>
          <p:nvPr/>
        </p:nvSpPr>
        <p:spPr>
          <a:xfrm>
            <a:off x="914400" y="2468880"/>
            <a:ext cx="2560320" cy="1463040"/>
          </a:xfrm>
          <a:prstGeom prst="rect">
            <a:avLst/>
          </a:prstGeom>
          <a:noFill/>
          <a:ln/>
        </p:spPr>
        <p:txBody>
          <a:bodyPr wrap="square" rtlCol="0" anchor="ctr"/>
          <a:lstStyle/>
          <a:p>
            <a:pPr indent="0" marL="0">
              <a:lnSpc>
                <a:spcPct val="115000"/>
              </a:lnSpc>
              <a:buNone/>
            </a:pPr>
            <a:r>
              <a:rPr lang="en-US" sz="1050" dirty="0">
                <a:solidFill>
                  <a:srgbClr val="CBD5E1"/>
                </a:solidFill>
                <a:latin typeface="Helvetica" pitchFamily="34" charset="0"/>
                <a:ea typeface="Helvetica" pitchFamily="34" charset="-122"/>
                <a:cs typeface="Helvetica" pitchFamily="34" charset="-120"/>
              </a:rPr>
              <a:t>Under-forecasting costs $50,000/day in vessel demurrage. Port management must treat ARIMA (1,1,0) as a hard operational floor.</a:t>
            </a:r>
            <a:endParaRPr lang="en-US" sz="1050" dirty="0"/>
          </a:p>
        </p:txBody>
      </p:sp>
      <p:sp>
        <p:nvSpPr>
          <p:cNvPr id="8" name="Shape 6"/>
          <p:cNvSpPr/>
          <p:nvPr/>
        </p:nvSpPr>
        <p:spPr>
          <a:xfrm>
            <a:off x="3840480" y="1554480"/>
            <a:ext cx="2926080" cy="2468880"/>
          </a:xfrm>
          <a:prstGeom prst="roundRect">
            <a:avLst>
              <a:gd name="adj" fmla="val 5556"/>
            </a:avLst>
          </a:prstGeom>
          <a:solidFill>
            <a:srgbClr val="0B2545"/>
          </a:solidFill>
          <a:ln w="19050">
            <a:solidFill>
              <a:srgbClr val="1B6CA8"/>
            </a:solidFill>
            <a:prstDash val="solid"/>
          </a:ln>
        </p:spPr>
      </p:sp>
      <p:sp>
        <p:nvSpPr>
          <p:cNvPr id="9" name="Text 7"/>
          <p:cNvSpPr/>
          <p:nvPr/>
        </p:nvSpPr>
        <p:spPr>
          <a:xfrm>
            <a:off x="4023360" y="1691640"/>
            <a:ext cx="2560320" cy="274320"/>
          </a:xfrm>
          <a:prstGeom prst="rect">
            <a:avLst/>
          </a:prstGeom>
          <a:noFill/>
          <a:ln/>
        </p:spPr>
        <p:txBody>
          <a:bodyPr wrap="square" rtlCol="0" anchor="ctr"/>
          <a:lstStyle/>
          <a:p>
            <a:pPr indent="0" marL="0">
              <a:buNone/>
            </a:pPr>
            <a:r>
              <a:rPr lang="en-US" sz="1100" b="1" dirty="0">
                <a:solidFill>
                  <a:srgbClr val="10B981"/>
                </a:solidFill>
                <a:latin typeface="Helvetica" pitchFamily="34" charset="0"/>
                <a:ea typeface="Helvetica" pitchFamily="34" charset="-122"/>
                <a:cs typeface="Helvetica" pitchFamily="34" charset="-120"/>
              </a:rPr>
              <a:t>2. Contingency Buffer</a:t>
            </a:r>
            <a:endParaRPr lang="en-US" sz="1100" dirty="0"/>
          </a:p>
        </p:txBody>
      </p:sp>
      <p:sp>
        <p:nvSpPr>
          <p:cNvPr id="10" name="Text 8"/>
          <p:cNvSpPr/>
          <p:nvPr/>
        </p:nvSpPr>
        <p:spPr>
          <a:xfrm>
            <a:off x="4023360" y="1965960"/>
            <a:ext cx="2560320" cy="457200"/>
          </a:xfrm>
          <a:prstGeom prst="rect">
            <a:avLst/>
          </a:prstGeom>
          <a:noFill/>
          <a:ln/>
        </p:spPr>
        <p:txBody>
          <a:bodyPr wrap="square" rtlCol="0" anchor="ctr"/>
          <a:lstStyle/>
          <a:p>
            <a:pPr indent="0" marL="0">
              <a:buNone/>
            </a:pPr>
            <a:r>
              <a:rPr lang="en-US" sz="1500" b="1" dirty="0">
                <a:solidFill>
                  <a:srgbClr val="FFFFFF"/>
                </a:solidFill>
                <a:latin typeface="Helvetica" pitchFamily="34" charset="0"/>
                <a:ea typeface="Helvetica" pitchFamily="34" charset="-122"/>
                <a:cs typeface="Helvetica" pitchFamily="34" charset="-120"/>
              </a:rPr>
              <a:t>+7% Longshore Gang Buffer</a:t>
            </a:r>
            <a:endParaRPr lang="en-US" sz="1500" dirty="0"/>
          </a:p>
        </p:txBody>
      </p:sp>
      <p:sp>
        <p:nvSpPr>
          <p:cNvPr id="11" name="Text 9"/>
          <p:cNvSpPr/>
          <p:nvPr/>
        </p:nvSpPr>
        <p:spPr>
          <a:xfrm>
            <a:off x="4023360" y="2468880"/>
            <a:ext cx="2560320" cy="1463040"/>
          </a:xfrm>
          <a:prstGeom prst="rect">
            <a:avLst/>
          </a:prstGeom>
          <a:noFill/>
          <a:ln/>
        </p:spPr>
        <p:txBody>
          <a:bodyPr wrap="square" rtlCol="0" anchor="ctr"/>
          <a:lstStyle/>
          <a:p>
            <a:pPr indent="0" marL="0">
              <a:lnSpc>
                <a:spcPct val="115000"/>
              </a:lnSpc>
              <a:buNone/>
            </a:pPr>
            <a:r>
              <a:rPr lang="en-US" sz="1050" dirty="0">
                <a:solidFill>
                  <a:srgbClr val="CBD5E1"/>
                </a:solidFill>
                <a:latin typeface="Helvetica" pitchFamily="34" charset="0"/>
                <a:ea typeface="Helvetica" pitchFamily="34" charset="-122"/>
                <a:cs typeface="Helvetica" pitchFamily="34" charset="-120"/>
              </a:rPr>
              <a:t>Management stages crane operators and yard equipment with a 7% buffer to absorb container trade shocks and vessel bunching.</a:t>
            </a:r>
            <a:endParaRPr lang="en-US" sz="1050" dirty="0"/>
          </a:p>
        </p:txBody>
      </p:sp>
      <p:sp>
        <p:nvSpPr>
          <p:cNvPr id="12" name="Shape 10"/>
          <p:cNvSpPr/>
          <p:nvPr/>
        </p:nvSpPr>
        <p:spPr>
          <a:xfrm>
            <a:off x="6949440" y="1554480"/>
            <a:ext cx="2926080" cy="2468880"/>
          </a:xfrm>
          <a:prstGeom prst="roundRect">
            <a:avLst>
              <a:gd name="adj" fmla="val 5556"/>
            </a:avLst>
          </a:prstGeom>
          <a:solidFill>
            <a:srgbClr val="0B2545"/>
          </a:solidFill>
          <a:ln w="19050">
            <a:solidFill>
              <a:srgbClr val="1B6CA8"/>
            </a:solidFill>
            <a:prstDash val="solid"/>
          </a:ln>
        </p:spPr>
      </p:sp>
      <p:sp>
        <p:nvSpPr>
          <p:cNvPr id="13" name="Text 11"/>
          <p:cNvSpPr/>
          <p:nvPr/>
        </p:nvSpPr>
        <p:spPr>
          <a:xfrm>
            <a:off x="7132320" y="1691640"/>
            <a:ext cx="2560320" cy="274320"/>
          </a:xfrm>
          <a:prstGeom prst="rect">
            <a:avLst/>
          </a:prstGeom>
          <a:noFill/>
          <a:ln/>
        </p:spPr>
        <p:txBody>
          <a:bodyPr wrap="square" rtlCol="0" anchor="ctr"/>
          <a:lstStyle/>
          <a:p>
            <a:pPr indent="0" marL="0">
              <a:buNone/>
            </a:pPr>
            <a:r>
              <a:rPr lang="en-US" sz="1100" b="1" dirty="0">
                <a:solidFill>
                  <a:srgbClr val="38BDF8"/>
                </a:solidFill>
                <a:latin typeface="Helvetica" pitchFamily="34" charset="0"/>
                <a:ea typeface="Helvetica" pitchFamily="34" charset="-122"/>
                <a:cs typeface="Helvetica" pitchFamily="34" charset="-120"/>
              </a:rPr>
              <a:t>3. Human Oversight</a:t>
            </a:r>
            <a:endParaRPr lang="en-US" sz="1100" dirty="0"/>
          </a:p>
        </p:txBody>
      </p:sp>
      <p:sp>
        <p:nvSpPr>
          <p:cNvPr id="14" name="Text 12"/>
          <p:cNvSpPr/>
          <p:nvPr/>
        </p:nvSpPr>
        <p:spPr>
          <a:xfrm>
            <a:off x="7132320" y="1965960"/>
            <a:ext cx="2560320" cy="457200"/>
          </a:xfrm>
          <a:prstGeom prst="rect">
            <a:avLst/>
          </a:prstGeom>
          <a:noFill/>
          <a:ln/>
        </p:spPr>
        <p:txBody>
          <a:bodyPr wrap="square" rtlCol="0" anchor="ctr"/>
          <a:lstStyle/>
          <a:p>
            <a:pPr indent="0" marL="0">
              <a:buNone/>
            </a:pPr>
            <a:r>
              <a:rPr lang="en-US" sz="1500" b="1" dirty="0">
                <a:solidFill>
                  <a:srgbClr val="FFFFFF"/>
                </a:solidFill>
                <a:latin typeface="Helvetica" pitchFamily="34" charset="0"/>
                <a:ea typeface="Helvetica" pitchFamily="34" charset="-122"/>
                <a:cs typeface="Helvetica" pitchFamily="34" charset="-120"/>
              </a:rPr>
              <a:t>Industry 5.0 Governance</a:t>
            </a:r>
            <a:endParaRPr lang="en-US" sz="1500" dirty="0"/>
          </a:p>
        </p:txBody>
      </p:sp>
      <p:sp>
        <p:nvSpPr>
          <p:cNvPr id="15" name="Text 13"/>
          <p:cNvSpPr/>
          <p:nvPr/>
        </p:nvSpPr>
        <p:spPr>
          <a:xfrm>
            <a:off x="7132320" y="2468880"/>
            <a:ext cx="2560320" cy="1463040"/>
          </a:xfrm>
          <a:prstGeom prst="rect">
            <a:avLst/>
          </a:prstGeom>
          <a:noFill/>
          <a:ln/>
        </p:spPr>
        <p:txBody>
          <a:bodyPr wrap="square" rtlCol="0" anchor="ctr"/>
          <a:lstStyle/>
          <a:p>
            <a:pPr indent="0" marL="0">
              <a:lnSpc>
                <a:spcPct val="115000"/>
              </a:lnSpc>
              <a:buNone/>
            </a:pPr>
            <a:r>
              <a:rPr lang="en-US" sz="1050" dirty="0">
                <a:solidFill>
                  <a:srgbClr val="CBD5E1"/>
                </a:solidFill>
                <a:latin typeface="Helvetica" pitchFamily="34" charset="0"/>
                <a:ea typeface="Helvetica" pitchFamily="34" charset="-122"/>
                <a:cs typeface="Helvetica" pitchFamily="34" charset="-120"/>
              </a:rPr>
              <a:t>Algorithms inform; humans decide. Revalidate quarterly. Human superintendents retain final sign-off during labor and tariff shocks.</a:t>
            </a:r>
            <a:endParaRPr lang="en-US" sz="1050" dirty="0"/>
          </a:p>
        </p:txBody>
      </p:sp>
      <p:sp>
        <p:nvSpPr>
          <p:cNvPr id="16" name="Shape 14"/>
          <p:cNvSpPr/>
          <p:nvPr/>
        </p:nvSpPr>
        <p:spPr>
          <a:xfrm>
            <a:off x="731520" y="4206240"/>
            <a:ext cx="9144000" cy="1280160"/>
          </a:xfrm>
          <a:prstGeom prst="roundRect">
            <a:avLst>
              <a:gd name="adj" fmla="val 8571"/>
            </a:avLst>
          </a:prstGeom>
          <a:solidFill>
            <a:srgbClr val="091728"/>
          </a:solidFill>
          <a:ln w="19050">
            <a:solidFill>
              <a:srgbClr val="F2A541"/>
            </a:solidFill>
            <a:prstDash val="solid"/>
          </a:ln>
        </p:spPr>
      </p:sp>
      <p:sp>
        <p:nvSpPr>
          <p:cNvPr id="17" name="Text 15"/>
          <p:cNvSpPr/>
          <p:nvPr/>
        </p:nvSpPr>
        <p:spPr>
          <a:xfrm>
            <a:off x="1005840" y="4343400"/>
            <a:ext cx="8595360" cy="457200"/>
          </a:xfrm>
          <a:prstGeom prst="rect">
            <a:avLst/>
          </a:prstGeom>
          <a:noFill/>
          <a:ln/>
        </p:spPr>
        <p:txBody>
          <a:bodyPr wrap="square" rtlCol="0" anchor="ctr"/>
          <a:lstStyle/>
          <a:p>
            <a:pPr algn="ctr" indent="0" marL="0">
              <a:buNone/>
            </a:pPr>
            <a:r>
              <a:rPr lang="en-US" sz="1300" b="1" dirty="0">
                <a:solidFill>
                  <a:srgbClr val="F2A541"/>
                </a:solidFill>
                <a:latin typeface="Helvetica" pitchFamily="34" charset="0"/>
                <a:ea typeface="Helvetica" pitchFamily="34" charset="-122"/>
                <a:cs typeface="Helvetica" pitchFamily="34" charset="-120"/>
              </a:rPr>
              <a:t>“USE ARIMA (1,1,0) AS PRIMARY FORECAST · REVALIDATE QUARTERLY · HUMAN SIGN-OFF MANDATORY”</a:t>
            </a:r>
            <a:endParaRPr lang="en-US" sz="1300" dirty="0"/>
          </a:p>
        </p:txBody>
      </p:sp>
      <p:sp>
        <p:nvSpPr>
          <p:cNvPr id="18" name="Text 16"/>
          <p:cNvSpPr/>
          <p:nvPr/>
        </p:nvSpPr>
        <p:spPr>
          <a:xfrm>
            <a:off x="1005840" y="4892040"/>
            <a:ext cx="8595360" cy="365760"/>
          </a:xfrm>
          <a:prstGeom prst="rect">
            <a:avLst/>
          </a:prstGeom>
          <a:noFill/>
          <a:ln/>
        </p:spPr>
        <p:txBody>
          <a:bodyPr wrap="square" rtlCol="0" anchor="ctr"/>
          <a:lstStyle/>
          <a:p>
            <a:pPr algn="ctr" indent="0" marL="0">
              <a:buNone/>
            </a:pPr>
            <a:r>
              <a:rPr lang="en-US" sz="950" dirty="0">
                <a:solidFill>
                  <a:srgbClr val="94A3B8"/>
                </a:solidFill>
                <a:latin typeface="Helvetica" pitchFamily="34" charset="0"/>
                <a:ea typeface="Helvetica" pitchFamily="34" charset="-122"/>
                <a:cs typeface="Helvetica" pitchFamily="34" charset="-120"/>
              </a:rPr>
              <a:t>IE-PC 3112: Operations Management 1 · Group 7 · BSIE 3-E · Cebu Technological University · Engr. Lyndrian Shalom R. Baclayon</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Cebu Technological University - Main Campus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Forecast: Port of Los Angeles Monthly Export Volume (TEUs)</dc:title>
  <dc:subject>IE-PC 3112: Operations Management 1</dc:subject>
  <dc:creator>Group 7 (Aligato, Ansay, Villagracia)</dc:creator>
  <cp:lastModifiedBy>Group 7 (Aligato, Ansay, Villagracia)</cp:lastModifiedBy>
  <cp:revision>1</cp:revision>
  <dcterms:created xsi:type="dcterms:W3CDTF">2026-10-05T10:47:41Z</dcterms:created>
  <dcterms:modified xsi:type="dcterms:W3CDTF">2026-10-05T10:47:41Z</dcterms:modified>
</cp:coreProperties>
</file>